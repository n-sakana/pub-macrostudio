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anual-macrostudio-beta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nual-macrostudio-beta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1c6f1160cb5455d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b6bb00f3494050a.png"/>
  <Relationship Id="rId3" Type="http://schemas.openxmlformats.org/officeDocument/2006/relationships/image" Target="../media/image_143265d28267021c.png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d23c0580ae15817.png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2f75a54927e5bd9.png"/>
  <Relationship Id="rId3" Type="http://schemas.openxmlformats.org/officeDocument/2006/relationships/image" Target="../media/image_c35274fa93284206.png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2b54d119265b124.png"/>
  <Relationship Id="rId3" Type="http://schemas.openxmlformats.org/officeDocument/2006/relationships/image" Target="../media/image_04a882dc54067538.png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67c26579b5e72d9.png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e42d5cb9b66a240.png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5809df89a1a2225.png"/>
  <Relationship Id="rId3" Type="http://schemas.openxmlformats.org/officeDocument/2006/relationships/image" Target="../media/image_6752e9e755fe7984.png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9d17a92fe155ba6.png"/>
  <Relationship Id="rId3" Type="http://schemas.openxmlformats.org/officeDocument/2006/relationships/image" Target="../media/image_bc667a7efbf8ac19.png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3a7e6c3f67c1c11.png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4ff76ae80a43ec2.png"/>
  <Relationship Id="rId3" Type="http://schemas.openxmlformats.org/officeDocument/2006/relationships/image" Target="../media/image_7c9956c69881ca8e.png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78c8ef124da3986.png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ac3053aa6d340ee.png"/>
  <Relationship Id="rId3" Type="http://schemas.openxmlformats.org/officeDocument/2006/relationships/image" Target="../media/image_be4d404916fff7e4.png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7ac73ebe742b597.png"/>
  <Relationship Id="rId3" Type="http://schemas.openxmlformats.org/officeDocument/2006/relationships/image" Target="../media/image_e1c6f1160cb5455d.png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48415c3a5e1a805.png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2ff18ab86192085.png"/>
  <Relationship Id="rId3" Type="http://schemas.openxmlformats.org/officeDocument/2006/relationships/image" Target="../media/image_d27c9e33b8be5926.png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90550" y="1333500"/>
            <a:ext cx="6106298" cy="2075879"/>
            <a:chOff x="590550" y="1333500"/>
            <a:chExt cx="6106298" cy="2075879"/>
          </a:xfrm>
        </p:grpSpPr>
        <p:sp>
          <p:nvSpPr>
            <p:cNvPr id="3" name="Rectangle 3"/>
            <p:cNvSpPr/>
            <p:nvPr/>
          </p:nvSpPr>
          <p:spPr>
            <a:xfrm>
              <a:off x="609600" y="1333500"/>
              <a:ext cx="533400" cy="47625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0550" y="1620202"/>
              <a:ext cx="350827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MacroStudio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0550" y="2306002"/>
              <a:ext cx="610629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4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βv2.00 操作マニュアル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9694" y="3027998"/>
              <a:ext cx="527633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9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Excel マクロを、新しい環境で動く形へ直す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9600" y="3771900"/>
            <a:ext cx="5334000" cy="1123950"/>
            <a:chOff x="609600" y="3771900"/>
            <a:chExt cx="5334000" cy="1123950"/>
          </a:xfrm>
        </p:grpSpPr>
        <p:sp>
          <p:nvSpPr>
            <p:cNvPr id="8" name="Rectangle 8"/>
            <p:cNvSpPr/>
            <p:nvPr/>
          </p:nvSpPr>
          <p:spPr>
            <a:xfrm>
              <a:off x="609600" y="3771900"/>
              <a:ext cx="5334000" cy="1123950"/>
            </a:xfrm>
            <a:prstGeom prst="roundRect">
              <a:avLst>
                <a:gd name="adj" fmla="val 847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9818" y="3993832"/>
              <a:ext cx="44481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何をするかは、マクロを見てから決める。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1723" y="437721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読み込む → 診断する →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1723" y="4605814"/>
              <a:ext cx="29681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改修を決めて実行する → ブックを作る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03504" y="5200650"/>
            <a:ext cx="5340096" cy="657606"/>
            <a:chOff x="603504" y="5200650"/>
            <a:chExt cx="5340096" cy="657606"/>
          </a:xfrm>
        </p:grpSpPr>
        <p:sp>
          <p:nvSpPr>
            <p:cNvPr id="13" name="Rectangle 13"/>
            <p:cNvSpPr/>
            <p:nvPr/>
          </p:nvSpPr>
          <p:spPr>
            <a:xfrm>
              <a:off x="609600" y="5200650"/>
              <a:ext cx="5334000" cy="9525"/>
            </a:xfrm>
            <a:prstGeom prst="rect">
              <a:avLst/>
            </a:prstGeom>
            <a:solidFill>
              <a:srgbClr val="CFD7D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03504" y="539496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beta 2.0.0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3504" y="5623560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2026-08-03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286500" y="3543300"/>
            <a:ext cx="5295900" cy="2962275"/>
            <a:chOff x="6286500" y="3543300"/>
            <a:chExt cx="5295900" cy="2962275"/>
          </a:xfrm>
        </p:grpSpPr>
        <p:sp>
          <p:nvSpPr>
            <p:cNvPr id="17" name="Rectangle 17"/>
            <p:cNvSpPr/>
            <p:nvPr/>
          </p:nvSpPr>
          <p:spPr>
            <a:xfrm>
              <a:off x="6286500" y="3543300"/>
              <a:ext cx="5295900" cy="2781300"/>
            </a:xfrm>
            <a:prstGeom prst="roundRect">
              <a:avLst>
                <a:gd name="adj" fmla="val 479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286500" y="3543300"/>
              <a:ext cx="5295900" cy="2781300"/>
            </a:xfrm>
            <a:prstGeom prst="roundRect">
              <a:avLst>
                <a:gd name="adj" fmla="val 4795"/>
              </a:avLst>
            </a:pr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38900" y="3695700"/>
              <a:ext cx="4991100" cy="2809875"/>
            </a:xfrm>
            <a:prstGeom prst="rect">
              <a:avLst/>
            </a:prstGeom>
          </p:spPr>
        </p:pic>
      </p:grpSp>
      <p:sp>
        <p:nvSpPr>
          <p:cNvPr id="21" name="TextBox 21"/>
          <p:cNvSpPr txBox="1"/>
          <p:nvPr/>
        </p:nvSpPr>
        <p:spPr>
          <a:xfrm>
            <a:off x="604266" y="6325552"/>
            <a:ext cx="2570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D6B7A"/>
                </a:solidFill>
                <a:latin typeface="+mn-lt"/>
                <a:ea typeface="+mn-ea"/>
                <a:cs typeface="+mn-cs"/>
              </a:rPr>
              <a:t>P01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4360" y="742950"/>
            <a:ext cx="10988040" cy="942975"/>
            <a:chOff x="594360" y="742950"/>
            <a:chExt cx="10988040" cy="942975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742950"/>
              <a:ext cx="299885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この本の読み方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1218" y="1288732"/>
              <a:ext cx="71247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引用した画面の見出し・ボタン名・案内文は、実際の表示と同一です。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609600" y="1676400"/>
              <a:ext cx="10972800" cy="9525"/>
            </a:xfrm>
            <a:prstGeom prst="rect">
              <a:avLst/>
            </a:prstGeom>
            <a:solidFill>
              <a:srgbClr val="CFD7DE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01218" y="1993582"/>
            <a:ext cx="5342382" cy="3188018"/>
            <a:chOff x="601218" y="1993582"/>
            <a:chExt cx="5342382" cy="3188018"/>
          </a:xfrm>
        </p:grpSpPr>
        <p:sp>
          <p:nvSpPr>
            <p:cNvPr id="7" name="TextBox 7"/>
            <p:cNvSpPr txBox="1"/>
            <p:nvPr/>
          </p:nvSpPr>
          <p:spPr>
            <a:xfrm>
              <a:off x="601218" y="19935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どこから読むか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2362200"/>
              <a:ext cx="5334000" cy="990600"/>
            </a:xfrm>
            <a:prstGeom prst="roundRect">
              <a:avLst>
                <a:gd name="adj" fmla="val 9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580" y="25431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はじめて使う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1723" y="2872264"/>
              <a:ext cx="3636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P04 の全体像から順に読みます。P06 からは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1723" y="310086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一件を通した作業例が続きます。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09600" y="3505200"/>
              <a:ext cx="5334000" cy="7620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0580" y="36861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画面で迷った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1723" y="3977164"/>
              <a:ext cx="4373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P04 の画面一覧から、その画面のページを引きます。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09600" y="4419600"/>
              <a:ext cx="5334000" cy="7620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0580" y="460057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何を確かめるか知りたい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1723" y="4891564"/>
              <a:ext cx="20521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P20 と P21 を読みます。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40018" y="1993582"/>
            <a:ext cx="5342382" cy="3188018"/>
            <a:chOff x="6240018" y="1993582"/>
            <a:chExt cx="5342382" cy="3188018"/>
          </a:xfrm>
        </p:grpSpPr>
        <p:sp>
          <p:nvSpPr>
            <p:cNvPr id="19" name="TextBox 19"/>
            <p:cNvSpPr txBox="1"/>
            <p:nvPr/>
          </p:nvSpPr>
          <p:spPr>
            <a:xfrm>
              <a:off x="6240018" y="199358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この本の約束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48400" y="2362200"/>
              <a:ext cx="5334000" cy="2819400"/>
            </a:xfrm>
            <a:prstGeom prst="roundRect">
              <a:avLst>
                <a:gd name="adj" fmla="val 3378"/>
              </a:avLst>
            </a:pr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69761" y="2627471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画面写真はすべて、現行版の実画面です。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477000" y="3009900"/>
              <a:ext cx="4876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69761" y="3237071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ボタン名と案内文は、実装の文字列と同一です。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477000" y="3619500"/>
              <a:ext cx="4876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69761" y="3846671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このツールが検証する範囲と、利用者が確かめる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9761" y="409432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範囲を分けて書きます。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477000" y="4476750"/>
              <a:ext cx="4876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69761" y="4703921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連絡先や運用規程は扱いません。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30" name="TextBox 30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P02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163556" y="63255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このツールがすること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4360" y="742950"/>
            <a:ext cx="10988040" cy="942975"/>
            <a:chOff x="594360" y="742950"/>
            <a:chExt cx="10988040" cy="942975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742950"/>
              <a:ext cx="681532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このツールがすること、しないこと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1218" y="1288732"/>
              <a:ext cx="87061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判断はチャット AI、検証と書き戻しは MacroStudio、動作確認は利用者が行います。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609600" y="1676400"/>
              <a:ext cx="10972800" cy="9525"/>
            </a:xfrm>
            <a:prstGeom prst="rect">
              <a:avLst/>
            </a:prstGeom>
            <a:solidFill>
              <a:srgbClr val="CFD7DE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09600" y="1905000"/>
            <a:ext cx="5334000" cy="3009900"/>
            <a:chOff x="609600" y="1905000"/>
            <a:chExt cx="5334000" cy="3009900"/>
          </a:xfrm>
        </p:grpSpPr>
        <p:sp>
          <p:nvSpPr>
            <p:cNvPr id="7" name="Rectangle 7"/>
            <p:cNvSpPr/>
            <p:nvPr/>
          </p:nvSpPr>
          <p:spPr>
            <a:xfrm>
              <a:off x="609600" y="1905000"/>
              <a:ext cx="5334000" cy="3009900"/>
            </a:xfrm>
            <a:prstGeom prst="roundRect">
              <a:avLst>
                <a:gd name="adj" fmla="val 316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9818" y="210788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します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0961" y="2551271"/>
              <a:ext cx="32966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ブックから VBA のコードを読み取る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0961" y="2875121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依頼文と、添付するコードのファイルを作る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0961" y="3198971"/>
              <a:ext cx="2670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の返答を機械的に検証する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0961" y="3522821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固定パスの候補を、字句として検出する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0961" y="384667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変更内容を差分で見せる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0961" y="4170521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元のブックのコピーへ書き戻し、読み直して照合する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48400" y="1905000"/>
            <a:ext cx="5334000" cy="3009900"/>
            <a:chOff x="6248400" y="1905000"/>
            <a:chExt cx="5334000" cy="3009900"/>
          </a:xfrm>
        </p:grpSpPr>
        <p:sp>
          <p:nvSpPr>
            <p:cNvPr id="16" name="Rectangle 16"/>
            <p:cNvSpPr/>
            <p:nvPr/>
          </p:nvSpPr>
          <p:spPr>
            <a:xfrm>
              <a:off x="6248400" y="1905000"/>
              <a:ext cx="5334000" cy="3009900"/>
            </a:xfrm>
            <a:prstGeom prst="roundRect">
              <a:avLst>
                <a:gd name="adj" fmla="val 3165"/>
              </a:avLst>
            </a:pr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68618" y="21078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しません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69761" y="255127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どこをどう直すかを決める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69761" y="2875121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マクロを実行する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69761" y="3198971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返答の文章から意味を推測して取り込む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9761" y="3522821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元のブックのファイルに書き込む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9761" y="3846671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改修後のマクロの動作を確認する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9600" y="5143500"/>
            <a:ext cx="10972800" cy="838200"/>
            <a:chOff x="609600" y="5143500"/>
            <a:chExt cx="10972800" cy="838200"/>
          </a:xfrm>
        </p:grpSpPr>
        <p:sp>
          <p:nvSpPr>
            <p:cNvPr id="24" name="Rectangle 24"/>
            <p:cNvSpPr/>
            <p:nvPr/>
          </p:nvSpPr>
          <p:spPr>
            <a:xfrm>
              <a:off x="609600" y="5143500"/>
              <a:ext cx="10972800" cy="838200"/>
            </a:xfrm>
            <a:prstGeom prst="roundRect">
              <a:avLst>
                <a:gd name="adj" fmla="val 11364"/>
              </a:avLst>
            </a:prstGeom>
            <a:solidFill>
              <a:schemeClr val="lt1"/>
            </a:solidFill>
            <a:ln w="9525">
              <a:solidFill>
                <a:srgbClr val="CFD7DE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09600" y="5143500"/>
              <a:ext cx="47625" cy="838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9061" y="5332571"/>
              <a:ext cx="5836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チャット AI は、利用者の操作で受け渡す外部サービスです。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9823" y="5653564"/>
              <a:ext cx="87695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MacroStudio 自体の処理（読み取り・依頼文の作成・検証・置き換え・差分・書き戻し）は手元で完結します。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29" name="TextBox 29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P03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163556" y="63255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このツールがすること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4360" y="704850"/>
            <a:ext cx="10988040" cy="904875"/>
            <a:chOff x="594360" y="704850"/>
            <a:chExt cx="10988040" cy="904875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704850"/>
              <a:ext cx="480107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 つの手順と、10 の画面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1218" y="1231582"/>
              <a:ext cx="60474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進捗は常に 4 手順で固定です。用途によって変わりません。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609600" y="1600200"/>
              <a:ext cx="10972800" cy="9525"/>
            </a:xfrm>
            <a:prstGeom prst="rect">
              <a:avLst/>
            </a:prstGeom>
            <a:solidFill>
              <a:srgbClr val="CFD7DE"/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09600" y="1828800"/>
            <a:ext cx="10972800" cy="838200"/>
            <a:chOff x="609600" y="1828800"/>
            <a:chExt cx="10972800" cy="838200"/>
          </a:xfrm>
        </p:grpSpPr>
        <p:sp>
          <p:nvSpPr>
            <p:cNvPr id="7" name="Rectangle 7"/>
            <p:cNvSpPr/>
            <p:nvPr/>
          </p:nvSpPr>
          <p:spPr>
            <a:xfrm>
              <a:off x="609600" y="1828800"/>
              <a:ext cx="2514600" cy="838200"/>
            </a:xfrm>
            <a:prstGeom prst="roundRect">
              <a:avLst>
                <a:gd name="adj" fmla="val 1136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2104" y="2042160"/>
              <a:ext cx="472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手順 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9818" y="2279332"/>
              <a:ext cx="18825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ブックを読み込む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429000" y="1828800"/>
              <a:ext cx="2514600" cy="838200"/>
            </a:xfrm>
            <a:prstGeom prst="roundRect">
              <a:avLst>
                <a:gd name="adj" fmla="val 1136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651504" y="2042160"/>
              <a:ext cx="472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手順 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49218" y="22793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診断する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248400" y="1828800"/>
              <a:ext cx="2514600" cy="838200"/>
            </a:xfrm>
            <a:prstGeom prst="roundRect">
              <a:avLst>
                <a:gd name="adj" fmla="val 1136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70904" y="2042160"/>
              <a:ext cx="472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手順 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68618" y="2279332"/>
              <a:ext cx="23490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改修を決めて実行する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067800" y="1828800"/>
              <a:ext cx="2514600" cy="838200"/>
            </a:xfrm>
            <a:prstGeom prst="roundRect">
              <a:avLst>
                <a:gd name="adj" fmla="val 1136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90304" y="2042160"/>
              <a:ext cx="472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手順 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288018" y="227933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ブックを作る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3200400" y="2190750"/>
              <a:ext cx="152400" cy="114300"/>
            </a:xfrm>
            <a:custGeom>
              <a:avLst/>
              <a:gdLst/>
              <a:ahLst/>
              <a:cxnLst/>
              <a:rect l="l" t="t" r="r" b="b"/>
              <a:pathLst>
                <a:path w="152400" h="114300">
                  <a:moveTo>
                    <a:pt x="0" y="57150"/>
                  </a:moveTo>
                  <a:lnTo>
                    <a:pt x="152400" y="57150"/>
                  </a:lnTo>
                  <a:moveTo>
                    <a:pt x="95250" y="0"/>
                  </a:moveTo>
                  <a:lnTo>
                    <a:pt x="152400" y="57150"/>
                  </a:lnTo>
                  <a:lnTo>
                    <a:pt x="95250" y="114300"/>
                  </a:lnTo>
                </a:path>
              </a:pathLst>
            </a:custGeom>
            <a:noFill/>
            <a:ln w="19050">
              <a:solidFill>
                <a:srgbClr val="5D6B7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019800" y="2190750"/>
              <a:ext cx="152400" cy="114300"/>
            </a:xfrm>
            <a:custGeom>
              <a:avLst/>
              <a:gdLst/>
              <a:ahLst/>
              <a:cxnLst/>
              <a:rect l="l" t="t" r="r" b="b"/>
              <a:pathLst>
                <a:path w="152400" h="114300">
                  <a:moveTo>
                    <a:pt x="0" y="57150"/>
                  </a:moveTo>
                  <a:lnTo>
                    <a:pt x="152400" y="57150"/>
                  </a:lnTo>
                  <a:moveTo>
                    <a:pt x="95250" y="0"/>
                  </a:moveTo>
                  <a:lnTo>
                    <a:pt x="152400" y="57150"/>
                  </a:lnTo>
                  <a:lnTo>
                    <a:pt x="95250" y="114300"/>
                  </a:lnTo>
                </a:path>
              </a:pathLst>
            </a:custGeom>
            <a:noFill/>
            <a:ln w="19050">
              <a:solidFill>
                <a:srgbClr val="5D6B7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8839200" y="2190750"/>
              <a:ext cx="152400" cy="114300"/>
            </a:xfrm>
            <a:custGeom>
              <a:avLst/>
              <a:gdLst/>
              <a:ahLst/>
              <a:cxnLst/>
              <a:rect l="l" t="t" r="r" b="b"/>
              <a:pathLst>
                <a:path w="152400" h="114300">
                  <a:moveTo>
                    <a:pt x="0" y="57150"/>
                  </a:moveTo>
                  <a:lnTo>
                    <a:pt x="152400" y="57150"/>
                  </a:lnTo>
                  <a:moveTo>
                    <a:pt x="95250" y="0"/>
                  </a:moveTo>
                  <a:lnTo>
                    <a:pt x="152400" y="57150"/>
                  </a:lnTo>
                  <a:lnTo>
                    <a:pt x="95250" y="114300"/>
                  </a:lnTo>
                </a:path>
              </a:pathLst>
            </a:custGeom>
            <a:noFill/>
            <a:ln w="19050">
              <a:solidFill>
                <a:srgbClr val="5D6B7A"/>
              </a:solidFill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609600" y="2933700"/>
            <a:ext cx="10972800" cy="2940653"/>
            <a:chOff x="609600" y="2933700"/>
            <a:chExt cx="10972800" cy="2940653"/>
          </a:xfrm>
        </p:grpSpPr>
        <p:sp>
          <p:nvSpPr>
            <p:cNvPr id="23" name="Rectangle 23"/>
            <p:cNvSpPr/>
            <p:nvPr/>
          </p:nvSpPr>
          <p:spPr>
            <a:xfrm>
              <a:off x="609600" y="2933700"/>
              <a:ext cx="10972800" cy="342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1723" y="3034189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画面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46123" y="3034189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名前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327523" y="3034189"/>
              <a:ext cx="18222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この画面で決めること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1723" y="339613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1723" y="364378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1723" y="389143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1723" y="413908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1723" y="438673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1723" y="463438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1723" y="488203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1723" y="512968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1723" y="537733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1723" y="562498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746123" y="3396139"/>
              <a:ext cx="21912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Excelブックを読み込みます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746123" y="3643789"/>
              <a:ext cx="19883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AIに診断してもらいます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746123" y="389143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診断結果を確認します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746123" y="413908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次にすることを選びます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746123" y="438673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改修する内容を決めます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746123" y="4634389"/>
              <a:ext cx="19883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AIに改修してもらいます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746123" y="4882039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取り込んだ変更を確認します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746123" y="5129689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作成する改修済みブックを確認します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746123" y="537733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改修済みブックをビルドしています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746123" y="5624989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改修済みブックを作成しました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327523" y="339613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対象のブック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327523" y="3643789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診断依頼の受け渡しと、診断結果の取り込み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327523" y="3891439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診断結果を読む（要約・概要・見つかった事実）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327523" y="4139089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次にすること（ひな形。複数選べる）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327523" y="438673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置き換える内容と、改修する指摘の確認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327523" y="4634389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改修依頼の受け渡しと、改修返答の取り込み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327523" y="488203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変更内容の確認（差分）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327523" y="512968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出力ファイル名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327523" y="53773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（自動）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327523" y="562498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出力フォルダを開く／完了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03123" y="5977414"/>
            <a:ext cx="7448286" cy="249364"/>
            <a:chOff x="603123" y="5977414"/>
            <a:chExt cx="7448286" cy="249364"/>
          </a:xfrm>
        </p:grpSpPr>
        <p:sp>
          <p:nvSpPr>
            <p:cNvPr id="58" name="TextBox 58"/>
            <p:cNvSpPr txBox="1"/>
            <p:nvPr/>
          </p:nvSpPr>
          <p:spPr>
            <a:xfrm>
              <a:off x="603123" y="5977414"/>
              <a:ext cx="74482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分岐は 2 か所だけです。どちらも画面は増えず、前へ進むボタンはどの画面でも［次へ］です。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60" name="TextBox 60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P04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163556" y="63255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このツールがすること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4360" y="704850"/>
            <a:ext cx="10988040" cy="904875"/>
            <a:chOff x="594360" y="704850"/>
            <a:chExt cx="10988040" cy="904875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704850"/>
              <a:ext cx="554316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用意するものと、できるもの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1218" y="1231582"/>
              <a:ext cx="6014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元のブックのファイルには、どの作業でも書き込みません。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609600" y="1600200"/>
              <a:ext cx="10972800" cy="9525"/>
            </a:xfrm>
            <a:prstGeom prst="rect">
              <a:avLst/>
            </a:prstGeom>
            <a:solidFill>
              <a:srgbClr val="CFD7DE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01218" y="1917382"/>
            <a:ext cx="5189982" cy="2349818"/>
            <a:chOff x="601218" y="1917382"/>
            <a:chExt cx="5189982" cy="2349818"/>
          </a:xfrm>
        </p:grpSpPr>
        <p:sp>
          <p:nvSpPr>
            <p:cNvPr id="7" name="TextBox 7"/>
            <p:cNvSpPr txBox="1"/>
            <p:nvPr/>
          </p:nvSpPr>
          <p:spPr>
            <a:xfrm>
              <a:off x="601218" y="191738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用意するもの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2247900"/>
              <a:ext cx="5181600" cy="2019300"/>
            </a:xfrm>
            <a:prstGeom prst="roundRect">
              <a:avLst>
                <a:gd name="adj" fmla="val 471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961" y="2475071"/>
              <a:ext cx="12187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対象のブック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1723" y="2757964"/>
              <a:ext cx="23047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.xlsm / .xlam / .xlsb / .xls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0961" y="3160871"/>
              <a:ext cx="23791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業務で使えるチャット AI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1723" y="344376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依頼文を貼り、ファイルを添付できるもの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0961" y="3846671"/>
              <a:ext cx="5219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Excel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87618" y="1917382"/>
            <a:ext cx="5494782" cy="2349818"/>
            <a:chOff x="6087618" y="1917382"/>
            <a:chExt cx="5494782" cy="2349818"/>
          </a:xfrm>
        </p:grpSpPr>
        <p:sp>
          <p:nvSpPr>
            <p:cNvPr id="15" name="TextBox 15"/>
            <p:cNvSpPr txBox="1"/>
            <p:nvPr/>
          </p:nvSpPr>
          <p:spPr>
            <a:xfrm>
              <a:off x="6087618" y="1917382"/>
              <a:ext cx="30487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作業のあとに増えるファイル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096000" y="2247900"/>
              <a:ext cx="5486400" cy="2019300"/>
            </a:xfrm>
            <a:prstGeom prst="roundRect">
              <a:avLst>
                <a:gd name="adj" fmla="val 4717"/>
              </a:avLst>
            </a:pr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17742" y="244506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改修済みブック（別名の新しいファイル）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7742" y="2711768"/>
              <a:ext cx="25868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差分の確認レポート（HTML）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17742" y="2978468"/>
              <a:ext cx="25398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result.md（改修の概要メモ）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17742" y="3245168"/>
              <a:ext cx="38029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diagnose-request.md / repair-request.md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17742" y="3511868"/>
              <a:ext cx="28033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source-code.md / diagnosis.md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17742" y="3778568"/>
              <a:ext cx="16584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run-manifest.json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9600" y="4476750"/>
            <a:ext cx="10972800" cy="838200"/>
            <a:chOff x="609600" y="4476750"/>
            <a:chExt cx="10972800" cy="838200"/>
          </a:xfrm>
        </p:grpSpPr>
        <p:sp>
          <p:nvSpPr>
            <p:cNvPr id="24" name="Rectangle 24"/>
            <p:cNvSpPr/>
            <p:nvPr/>
          </p:nvSpPr>
          <p:spPr>
            <a:xfrm>
              <a:off x="609600" y="4476750"/>
              <a:ext cx="10972800" cy="838200"/>
            </a:xfrm>
            <a:prstGeom prst="roundRect">
              <a:avLst>
                <a:gd name="adj" fmla="val 11364"/>
              </a:avLst>
            </a:prstGeom>
            <a:solidFill>
              <a:schemeClr val="lt1"/>
            </a:solidFill>
            <a:ln w="9525">
              <a:solidFill>
                <a:srgbClr val="CFD7DE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09600" y="4476750"/>
              <a:ext cx="47625" cy="838200"/>
            </a:xfrm>
            <a:prstGeom prst="roundRect">
              <a:avLst>
                <a:gd name="adj" fmla="val 50000"/>
              </a:avLst>
            </a:prstGeom>
            <a:solidFill>
              <a:srgbClr val="3A7A4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9061" y="4665821"/>
              <a:ext cx="62668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増えるファイルは、すべて 1 つの実行フォルダの中にまとまります。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9823" y="4986814"/>
              <a:ext cx="74224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元のブックと同じ場所に、ブック名と日時からできたフォルダが作られます。散らばりません。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9600" y="5505450"/>
            <a:ext cx="10972800" cy="609600"/>
            <a:chOff x="609600" y="5505450"/>
            <a:chExt cx="10972800" cy="609600"/>
          </a:xfrm>
        </p:grpSpPr>
        <p:sp>
          <p:nvSpPr>
            <p:cNvPr id="29" name="Rectangle 29"/>
            <p:cNvSpPr/>
            <p:nvPr/>
          </p:nvSpPr>
          <p:spPr>
            <a:xfrm>
              <a:off x="609600" y="5505450"/>
              <a:ext cx="10972800" cy="609600"/>
            </a:xfrm>
            <a:prstGeom prst="roundRect">
              <a:avLst>
                <a:gd name="adj" fmla="val 1562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69061" y="5732621"/>
              <a:ext cx="86166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元のブックは、読み取るだけで変更しません。作業をやり直しても、元のファイルは同じままです。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32" name="TextBox 32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P05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63556" y="63255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このツールがすること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4360" y="704850"/>
            <a:ext cx="10988040" cy="904875"/>
            <a:chOff x="594360" y="704850"/>
            <a:chExt cx="10988040" cy="904875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704850"/>
              <a:ext cx="77270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例に使うブックと、この 1 回で行うこと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1218" y="1231582"/>
              <a:ext cx="78243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ひな形は複数選べるので、種類の違う作業を 1 回の実行でまとめて行えます。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609600" y="1600200"/>
              <a:ext cx="10972800" cy="9525"/>
            </a:xfrm>
            <a:prstGeom prst="rect">
              <a:avLst/>
            </a:prstGeom>
            <a:solidFill>
              <a:srgbClr val="CFD7DE"/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01218" y="1917382"/>
            <a:ext cx="5373812" cy="2328196"/>
            <a:chOff x="601218" y="1917382"/>
            <a:chExt cx="5373812" cy="2328196"/>
          </a:xfrm>
        </p:grpSpPr>
        <p:sp>
          <p:nvSpPr>
            <p:cNvPr id="7" name="TextBox 7"/>
            <p:cNvSpPr txBox="1"/>
            <p:nvPr/>
          </p:nvSpPr>
          <p:spPr>
            <a:xfrm>
              <a:off x="601218" y="1917382"/>
              <a:ext cx="34452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sample_share_and_win32.xlsm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3123" y="2224564"/>
              <a:ext cx="53719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経理課の請求データ月次集計マクロ。コードは 3 モジュール・188 行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09600" y="2533650"/>
              <a:ext cx="5181600" cy="342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1723" y="2634139"/>
              <a:ext cx="9176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モジュール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31923" y="2634139"/>
              <a:ext cx="1938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965323" y="2634139"/>
              <a:ext cx="14603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何を持っているか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1723" y="3005614"/>
              <a:ext cx="10819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BillingReport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1723" y="3500914"/>
              <a:ext cx="875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TimerUtils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1723" y="3996214"/>
              <a:ext cx="10661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ShareExport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31923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69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31923" y="35009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31923" y="39962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76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65323" y="300561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入口。明細を集計する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65323" y="3500914"/>
              <a:ext cx="24969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Windows の関数を直接呼ぶ待機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65323" y="399621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固定の保存先。入口からは呼ばない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87618" y="1917382"/>
            <a:ext cx="5494782" cy="2807018"/>
            <a:chOff x="6087618" y="1917382"/>
            <a:chExt cx="5494782" cy="2807018"/>
          </a:xfrm>
        </p:grpSpPr>
        <p:sp>
          <p:nvSpPr>
            <p:cNvPr id="23" name="TextBox 23"/>
            <p:cNvSpPr txBox="1"/>
            <p:nvPr/>
          </p:nvSpPr>
          <p:spPr>
            <a:xfrm>
              <a:off x="6087618" y="1917382"/>
              <a:ext cx="21508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この 1 回で行うこと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096000" y="2286000"/>
              <a:ext cx="5486400" cy="11430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16980" y="2486025"/>
              <a:ext cx="37045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 固定パスを新しい場所へ置き換える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18123" y="281511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対応表に新しい値を入れて実行します。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18123" y="3043714"/>
              <a:ext cx="29533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手元で完結し、AI へは渡しません。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096000" y="3581400"/>
              <a:ext cx="5486400" cy="11430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16980" y="3781425"/>
              <a:ext cx="33376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2. Win32 API を使わない形へ直す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18123" y="4110514"/>
              <a:ext cx="31900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依頼文とコードをチャット AI へ渡し、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18123" y="433911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返ってきたコードを取り込みます。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" y="4876800"/>
            <a:ext cx="10972800" cy="1143000"/>
            <a:chOff x="609600" y="4876800"/>
            <a:chExt cx="10972800" cy="1143000"/>
          </a:xfrm>
        </p:grpSpPr>
        <p:sp>
          <p:nvSpPr>
            <p:cNvPr id="33" name="Rectangle 33"/>
            <p:cNvSpPr/>
            <p:nvPr/>
          </p:nvSpPr>
          <p:spPr>
            <a:xfrm>
              <a:off x="609600" y="4876800"/>
              <a:ext cx="10972800" cy="1143000"/>
            </a:xfrm>
            <a:prstGeom prst="roundRect">
              <a:avLst>
                <a:gd name="adj" fmla="val 8333"/>
              </a:avLst>
            </a:prstGeom>
            <a:solidFill>
              <a:schemeClr val="lt1"/>
            </a:solidFill>
            <a:ln w="9525">
              <a:solidFill>
                <a:srgbClr val="CFD7DE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09600" y="4876800"/>
              <a:ext cx="47625" cy="1143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68680" y="507682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順序は決まっています。置き換えが先です。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9442" y="5416868"/>
              <a:ext cx="7973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置き換える予定の行を含んだコードを AI へ渡すと、返ってきたコードに古い値が残ります。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9442" y="5683568"/>
              <a:ext cx="93748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そこで画面 4 が 2 段になり、先に置き換えてから、その結果のコードを AI へ渡します。画面は増えません。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39" name="TextBox 39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P06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587609" y="63255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通しの作業事例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4360" y="495300"/>
            <a:ext cx="10988040" cy="1228725"/>
            <a:chOff x="594360" y="495300"/>
            <a:chExt cx="10988040" cy="1228725"/>
          </a:xfrm>
        </p:grpSpPr>
        <p:sp>
          <p:nvSpPr>
            <p:cNvPr id="3" name="Rectangle 3"/>
            <p:cNvSpPr/>
            <p:nvPr/>
          </p:nvSpPr>
          <p:spPr>
            <a:xfrm>
              <a:off x="609600" y="495300"/>
              <a:ext cx="142875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6285" y="564356"/>
              <a:ext cx="1112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手順 1 ・ 画面 0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4360" y="895350"/>
              <a:ext cx="539115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Excelブックを読み込みます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1980" y="1400175"/>
              <a:ext cx="5265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読み込んでも、元のブックのファイルは変更されません。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714500"/>
              <a:ext cx="10972800" cy="9525"/>
            </a:xfrm>
            <a:prstGeom prst="rect">
              <a:avLst/>
            </a:prstGeom>
            <a:solidFill>
              <a:srgbClr val="CFD7DE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3123" y="1905000"/>
            <a:ext cx="5340477" cy="3597878"/>
            <a:chOff x="603123" y="1905000"/>
            <a:chExt cx="5340477" cy="3597878"/>
          </a:xfrm>
        </p:grpSpPr>
        <p:sp>
          <p:nvSpPr>
            <p:cNvPr id="9" name="Rectangle 9"/>
            <p:cNvSpPr/>
            <p:nvPr/>
          </p:nvSpPr>
          <p:spPr>
            <a:xfrm>
              <a:off x="609600" y="1905000"/>
              <a:ext cx="5334000" cy="3200400"/>
            </a:xfrm>
            <a:prstGeom prst="roundRect">
              <a:avLst>
                <a:gd name="adj" fmla="val 3571"/>
              </a:avLst>
            </a:prstGeom>
            <a:solidFill>
              <a:schemeClr val="accent5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2057400"/>
              <a:ext cx="5029200" cy="2828925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603123" y="5253514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読み込む前。ドラッグするか、クリックして選びます。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241923" y="1905000"/>
            <a:ext cx="5340477" cy="3597878"/>
            <a:chOff x="6241923" y="1905000"/>
            <a:chExt cx="5340477" cy="3597878"/>
          </a:xfrm>
        </p:grpSpPr>
        <p:sp>
          <p:nvSpPr>
            <p:cNvPr id="13" name="Rectangle 13"/>
            <p:cNvSpPr/>
            <p:nvPr/>
          </p:nvSpPr>
          <p:spPr>
            <a:xfrm>
              <a:off x="6248400" y="1905000"/>
              <a:ext cx="5334000" cy="3200400"/>
            </a:xfrm>
            <a:prstGeom prst="roundRect">
              <a:avLst>
                <a:gd name="adj" fmla="val 3571"/>
              </a:avLst>
            </a:prstGeom>
            <a:solidFill>
              <a:schemeClr val="accent5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0" y="2057400"/>
              <a:ext cx="5029200" cy="2828925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6241923" y="5253514"/>
              <a:ext cx="39417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読み込んだあと。7 モジュール・188 行と出ます。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" y="5676900"/>
            <a:ext cx="10972800" cy="457200"/>
            <a:chOff x="609600" y="5676900"/>
            <a:chExt cx="10972800" cy="457200"/>
          </a:xfrm>
        </p:grpSpPr>
        <p:sp>
          <p:nvSpPr>
            <p:cNvPr id="17" name="Rectangle 17"/>
            <p:cNvSpPr/>
            <p:nvPr/>
          </p:nvSpPr>
          <p:spPr>
            <a:xfrm>
              <a:off x="609600" y="5676900"/>
              <a:ext cx="10972800" cy="457200"/>
            </a:xfrm>
            <a:prstGeom prst="roundRect">
              <a:avLst>
                <a:gd name="adj" fmla="val 208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9442" y="5816918"/>
              <a:ext cx="101728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対応する形式は .xlsm / .xlam / .xlsb / .xls です。マクロが無いブックや暗号化されたブックは、その旨が画面に出ます。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20" name="TextBox 20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P07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587609" y="63255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通しの作業事例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4360" y="495300"/>
            <a:ext cx="10988040" cy="1228725"/>
            <a:chOff x="594360" y="495300"/>
            <a:chExt cx="10988040" cy="1228725"/>
          </a:xfrm>
        </p:grpSpPr>
        <p:sp>
          <p:nvSpPr>
            <p:cNvPr id="3" name="Rectangle 3"/>
            <p:cNvSpPr/>
            <p:nvPr/>
          </p:nvSpPr>
          <p:spPr>
            <a:xfrm>
              <a:off x="609600" y="495300"/>
              <a:ext cx="142875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6285" y="564356"/>
              <a:ext cx="1112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手順 1 ・ 画面 0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4360" y="895350"/>
              <a:ext cx="554316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読み取った内容を確認します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1980" y="1400175"/>
              <a:ext cx="5265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読み取りに疑いがある場合は、そのことが画面に出ます。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714500"/>
              <a:ext cx="10972800" cy="9525"/>
            </a:xfrm>
            <a:prstGeom prst="rect">
              <a:avLst/>
            </a:prstGeom>
            <a:solidFill>
              <a:srgbClr val="CFD7DE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3504" y="1905000"/>
            <a:ext cx="6673596" cy="4296156"/>
            <a:chOff x="603504" y="1905000"/>
            <a:chExt cx="6673596" cy="4296156"/>
          </a:xfrm>
        </p:grpSpPr>
        <p:sp>
          <p:nvSpPr>
            <p:cNvPr id="9" name="Rectangle 9"/>
            <p:cNvSpPr/>
            <p:nvPr/>
          </p:nvSpPr>
          <p:spPr>
            <a:xfrm>
              <a:off x="609600" y="1905000"/>
              <a:ext cx="6667500" cy="4000500"/>
            </a:xfrm>
            <a:prstGeom prst="roundRect">
              <a:avLst>
                <a:gd name="adj" fmla="val 2857"/>
              </a:avLst>
            </a:prstGeom>
            <a:solidFill>
              <a:schemeClr val="accent5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2057400"/>
              <a:ext cx="6362700" cy="358140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603504" y="596646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「読み取ったコード」を開いたところ。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581900" y="1905000"/>
            <a:ext cx="4000500" cy="4000500"/>
            <a:chOff x="7581900" y="1905000"/>
            <a:chExt cx="4000500" cy="4000500"/>
          </a:xfrm>
        </p:grpSpPr>
        <p:sp>
          <p:nvSpPr>
            <p:cNvPr id="13" name="Rectangle 13"/>
            <p:cNvSpPr/>
            <p:nvPr/>
          </p:nvSpPr>
          <p:spPr>
            <a:xfrm>
              <a:off x="7581900" y="1905000"/>
              <a:ext cx="4000500" cy="1905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803261" y="2113121"/>
              <a:ext cx="20517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読み取り結果は 2 段階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04023" y="245316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「マクロのコードは全モジュール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04023" y="270081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読み取れています。」なら、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04023" y="294846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問題は管理情報だけで、コードの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04023" y="319611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読み取りには影響していません。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581900" y="4038600"/>
              <a:ext cx="4000500" cy="1866900"/>
            </a:xfrm>
            <a:prstGeom prst="roundRect">
              <a:avLst>
                <a:gd name="adj" fmla="val 5102"/>
              </a:avLst>
            </a:pr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03261" y="4246721"/>
              <a:ext cx="202166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コードの外にあるもの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04023" y="458676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参照設定・署名・外部リンクなど、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04023" y="4834414"/>
              <a:ext cx="23707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VBA には現れない事実です。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04023" y="508206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このツールは直しません。次の診断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04023" y="532971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の依頼文へ自動で入ります。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26" name="TextBox 26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P08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587609" y="63255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通しの作業事例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4360" y="495300"/>
            <a:ext cx="10988040" cy="1228725"/>
            <a:chOff x="594360" y="495300"/>
            <a:chExt cx="10988040" cy="1228725"/>
          </a:xfrm>
        </p:grpSpPr>
        <p:sp>
          <p:nvSpPr>
            <p:cNvPr id="3" name="Rectangle 3"/>
            <p:cNvSpPr/>
            <p:nvPr/>
          </p:nvSpPr>
          <p:spPr>
            <a:xfrm>
              <a:off x="609600" y="495300"/>
              <a:ext cx="14287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6285" y="564356"/>
              <a:ext cx="1112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手順 2 ・ 画面 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4360" y="895350"/>
              <a:ext cx="489188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AIに診断してもらいます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1980" y="1400175"/>
              <a:ext cx="7082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この段階では直し方を決めません。何が起きるかの事実を確かめるだけです。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714500"/>
              <a:ext cx="10972800" cy="9525"/>
            </a:xfrm>
            <a:prstGeom prst="rect">
              <a:avLst/>
            </a:prstGeom>
            <a:solidFill>
              <a:srgbClr val="CFD7DE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3123" y="1905000"/>
            <a:ext cx="5340477" cy="3597878"/>
            <a:chOff x="603123" y="1905000"/>
            <a:chExt cx="5340477" cy="3597878"/>
          </a:xfrm>
        </p:grpSpPr>
        <p:sp>
          <p:nvSpPr>
            <p:cNvPr id="9" name="Rectangle 9"/>
            <p:cNvSpPr/>
            <p:nvPr/>
          </p:nvSpPr>
          <p:spPr>
            <a:xfrm>
              <a:off x="609600" y="1905000"/>
              <a:ext cx="5334000" cy="3200400"/>
            </a:xfrm>
            <a:prstGeom prst="roundRect">
              <a:avLst>
                <a:gd name="adj" fmla="val 3571"/>
              </a:avLst>
            </a:prstGeom>
            <a:solidFill>
              <a:schemeClr val="accent5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2057400"/>
              <a:ext cx="5029200" cy="2828925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603123" y="5253514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渡すことと取り込むことが、同じ画面にあります。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241923" y="1905000"/>
            <a:ext cx="5340477" cy="3597878"/>
            <a:chOff x="6241923" y="1905000"/>
            <a:chExt cx="5340477" cy="3597878"/>
          </a:xfrm>
        </p:grpSpPr>
        <p:sp>
          <p:nvSpPr>
            <p:cNvPr id="13" name="Rectangle 13"/>
            <p:cNvSpPr/>
            <p:nvPr/>
          </p:nvSpPr>
          <p:spPr>
            <a:xfrm>
              <a:off x="6248400" y="1905000"/>
              <a:ext cx="5334000" cy="3200400"/>
            </a:xfrm>
            <a:prstGeom prst="roundRect">
              <a:avLst>
                <a:gd name="adj" fmla="val 3571"/>
              </a:avLst>
            </a:prstGeom>
            <a:solidFill>
              <a:schemeClr val="accent5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0" y="2057400"/>
              <a:ext cx="5029200" cy="2828925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6241923" y="5253514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「この診断が前提にしている環境」を開いたところ。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" y="5676900"/>
            <a:ext cx="10972800" cy="457200"/>
            <a:chOff x="609600" y="5676900"/>
            <a:chExt cx="10972800" cy="457200"/>
          </a:xfrm>
        </p:grpSpPr>
        <p:sp>
          <p:nvSpPr>
            <p:cNvPr id="17" name="Rectangle 17"/>
            <p:cNvSpPr/>
            <p:nvPr/>
          </p:nvSpPr>
          <p:spPr>
            <a:xfrm>
              <a:off x="609600" y="5676900"/>
              <a:ext cx="10972800" cy="457200"/>
            </a:xfrm>
            <a:prstGeom prst="roundRect">
              <a:avLst>
                <a:gd name="adj" fmla="val 208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9442" y="5816918"/>
              <a:ext cx="105349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［依頼文をコピー］で AI へ貼り付け、［ファイルの場所を開く］で開いたフォルダの source-code-for-ai.md を添付します。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20" name="TextBox 20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P09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587609" y="63255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通しの作業事例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4360" y="495300"/>
            <a:ext cx="10988040" cy="1228725"/>
            <a:chOff x="594360" y="495300"/>
            <a:chExt cx="10988040" cy="1228725"/>
          </a:xfrm>
        </p:grpSpPr>
        <p:sp>
          <p:nvSpPr>
            <p:cNvPr id="3" name="Rectangle 3"/>
            <p:cNvSpPr/>
            <p:nvPr/>
          </p:nvSpPr>
          <p:spPr>
            <a:xfrm>
              <a:off x="609600" y="495300"/>
              <a:ext cx="14287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6285" y="564356"/>
              <a:ext cx="1112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手順 2 ・ 画面 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4360" y="895350"/>
              <a:ext cx="384695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返答を取り込みます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1980" y="1400175"/>
              <a:ext cx="76885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形式が合わない返答は、部分的にも取り込まれません。状態は変わらないままです。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714500"/>
              <a:ext cx="10972800" cy="9525"/>
            </a:xfrm>
            <a:prstGeom prst="rect">
              <a:avLst/>
            </a:prstGeom>
            <a:solidFill>
              <a:srgbClr val="CFD7DE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3123" y="1905000"/>
            <a:ext cx="5340477" cy="3597878"/>
            <a:chOff x="603123" y="1905000"/>
            <a:chExt cx="5340477" cy="3597878"/>
          </a:xfrm>
        </p:grpSpPr>
        <p:sp>
          <p:nvSpPr>
            <p:cNvPr id="9" name="Rectangle 9"/>
            <p:cNvSpPr/>
            <p:nvPr/>
          </p:nvSpPr>
          <p:spPr>
            <a:xfrm>
              <a:off x="609600" y="1905000"/>
              <a:ext cx="5334000" cy="3200400"/>
            </a:xfrm>
            <a:prstGeom prst="roundRect">
              <a:avLst>
                <a:gd name="adj" fmla="val 3571"/>
              </a:avLst>
            </a:prstGeom>
            <a:solidFill>
              <a:schemeClr val="accent5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2057400"/>
              <a:ext cx="5029200" cy="2828925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603123" y="5253514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渡し終えたところ。案内文が次の操作に変わります。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241923" y="1905000"/>
            <a:ext cx="5340477" cy="3597878"/>
            <a:chOff x="6241923" y="1905000"/>
            <a:chExt cx="5340477" cy="3597878"/>
          </a:xfrm>
        </p:grpSpPr>
        <p:sp>
          <p:nvSpPr>
            <p:cNvPr id="13" name="Rectangle 13"/>
            <p:cNvSpPr/>
            <p:nvPr/>
          </p:nvSpPr>
          <p:spPr>
            <a:xfrm>
              <a:off x="6248400" y="1905000"/>
              <a:ext cx="5334000" cy="3200400"/>
            </a:xfrm>
            <a:prstGeom prst="roundRect">
              <a:avLst>
                <a:gd name="adj" fmla="val 3571"/>
              </a:avLst>
            </a:prstGeom>
            <a:solidFill>
              <a:schemeClr val="accent5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0" y="2057400"/>
              <a:ext cx="5029200" cy="2828925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6241923" y="5253514"/>
              <a:ext cx="40709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右肩が「8件の指摘を取り込み済み」に変わります。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" y="5676900"/>
            <a:ext cx="11177778" cy="457200"/>
            <a:chOff x="609600" y="5676900"/>
            <a:chExt cx="11177778" cy="457200"/>
          </a:xfrm>
        </p:grpSpPr>
        <p:sp>
          <p:nvSpPr>
            <p:cNvPr id="17" name="Rectangle 17"/>
            <p:cNvSpPr/>
            <p:nvPr/>
          </p:nvSpPr>
          <p:spPr>
            <a:xfrm>
              <a:off x="609600" y="5676900"/>
              <a:ext cx="10972800" cy="457200"/>
            </a:xfrm>
            <a:prstGeom prst="roundRect">
              <a:avLst>
                <a:gd name="adj" fmla="val 208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9442" y="5816918"/>
              <a:ext cx="109179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返答のコードブロック全体をコピーし、［クリップボードから診断結果を取り込む］を押します。取り込めたら［次へ］が開きます。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20" name="TextBox 20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P10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587609" y="63255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通しの作業事例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4360" y="495300"/>
            <a:ext cx="10988040" cy="1228725"/>
            <a:chOff x="594360" y="495300"/>
            <a:chExt cx="10988040" cy="1228725"/>
          </a:xfrm>
        </p:grpSpPr>
        <p:sp>
          <p:nvSpPr>
            <p:cNvPr id="3" name="Rectangle 3"/>
            <p:cNvSpPr/>
            <p:nvPr/>
          </p:nvSpPr>
          <p:spPr>
            <a:xfrm>
              <a:off x="609600" y="495300"/>
              <a:ext cx="142875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6285" y="564356"/>
              <a:ext cx="1112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手順 3 ・ 画面 2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4360" y="895350"/>
              <a:ext cx="427101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診断結果を確認します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1980" y="1400175"/>
              <a:ext cx="60731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上部の件数は問題の数です。該当箇所の数は括弧で添えられます。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714500"/>
              <a:ext cx="10972800" cy="9525"/>
            </a:xfrm>
            <a:prstGeom prst="rect">
              <a:avLst/>
            </a:prstGeom>
            <a:solidFill>
              <a:srgbClr val="CFD7DE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3504" y="1905000"/>
            <a:ext cx="6673596" cy="4296156"/>
            <a:chOff x="603504" y="1905000"/>
            <a:chExt cx="6673596" cy="4296156"/>
          </a:xfrm>
        </p:grpSpPr>
        <p:sp>
          <p:nvSpPr>
            <p:cNvPr id="9" name="Rectangle 9"/>
            <p:cNvSpPr/>
            <p:nvPr/>
          </p:nvSpPr>
          <p:spPr>
            <a:xfrm>
              <a:off x="609600" y="1905000"/>
              <a:ext cx="6667500" cy="4000500"/>
            </a:xfrm>
            <a:prstGeom prst="roundRect">
              <a:avLst>
                <a:gd name="adj" fmla="val 2857"/>
              </a:avLst>
            </a:prstGeom>
            <a:solidFill>
              <a:schemeClr val="accent5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2057400"/>
              <a:ext cx="6362700" cy="358140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603504" y="5966460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結論帯・概要・見つかった事実の順に並びます。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574280" y="2009775"/>
            <a:ext cx="4008120" cy="3895725"/>
            <a:chOff x="7574280" y="2009775"/>
            <a:chExt cx="4008120" cy="3895725"/>
          </a:xfrm>
        </p:grpSpPr>
        <p:sp>
          <p:nvSpPr>
            <p:cNvPr id="13" name="TextBox 13"/>
            <p:cNvSpPr txBox="1"/>
            <p:nvPr/>
          </p:nvSpPr>
          <p:spPr>
            <a:xfrm>
              <a:off x="7574280" y="2009775"/>
              <a:ext cx="14676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 段で見せます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581900" y="2324100"/>
              <a:ext cx="4000500" cy="723900"/>
            </a:xfrm>
            <a:prstGeom prst="roundRect">
              <a:avLst>
                <a:gd name="adj" fmla="val 1315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803642" y="2483168"/>
              <a:ext cx="12349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 作業の種類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04404" y="2747010"/>
              <a:ext cx="3599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Win32 API・パス操作・参照ライブラリ・接続先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581900" y="3162300"/>
              <a:ext cx="4000500" cy="723900"/>
            </a:xfrm>
            <a:prstGeom prst="roundRect">
              <a:avLst>
                <a:gd name="adj" fmla="val 1315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803642" y="3321368"/>
              <a:ext cx="6625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2. 問題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04404" y="3585210"/>
              <a:ext cx="34288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同じ環境の前提を名指しした指摘は 1 つの問題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581900" y="4000500"/>
              <a:ext cx="4000500" cy="723900"/>
            </a:xfrm>
            <a:prstGeom prst="roundRect">
              <a:avLst>
                <a:gd name="adj" fmla="val 1315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803642" y="4159568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3. 該当箇所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04404" y="44234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開いたときだけ出ます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581900" y="4914900"/>
              <a:ext cx="4000500" cy="990600"/>
            </a:xfrm>
            <a:prstGeom prst="roundRect">
              <a:avLst>
                <a:gd name="adj" fmla="val 9615"/>
              </a:avLst>
            </a:pr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804023" y="5101114"/>
              <a:ext cx="19342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指摘が 1 件も無いときは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04023" y="534876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「この監査範囲では動作阻害要因を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04023" y="559641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確認できませんでした。」と出ます。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28" name="TextBox 28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P11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587609" y="63255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通しの作業事例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4360" y="495300"/>
            <a:ext cx="10988040" cy="1228725"/>
            <a:chOff x="594360" y="495300"/>
            <a:chExt cx="10988040" cy="1228725"/>
          </a:xfrm>
        </p:grpSpPr>
        <p:sp>
          <p:nvSpPr>
            <p:cNvPr id="3" name="Rectangle 3"/>
            <p:cNvSpPr/>
            <p:nvPr/>
          </p:nvSpPr>
          <p:spPr>
            <a:xfrm>
              <a:off x="609600" y="495300"/>
              <a:ext cx="142875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6285" y="564356"/>
              <a:ext cx="1112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手順 3 ・ 画面 2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4360" y="895350"/>
              <a:ext cx="384695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指摘の中身を見ます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1980" y="1400175"/>
              <a:ext cx="82189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分類は問題の種類、確度は AI がコードを読んだ結果の確からしさで、別のものです。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714500"/>
              <a:ext cx="10972800" cy="9525"/>
            </a:xfrm>
            <a:prstGeom prst="rect">
              <a:avLst/>
            </a:prstGeom>
            <a:solidFill>
              <a:srgbClr val="CFD7DE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3504" y="1905000"/>
            <a:ext cx="6292596" cy="3858006"/>
            <a:chOff x="603504" y="1905000"/>
            <a:chExt cx="6292596" cy="3858006"/>
          </a:xfrm>
        </p:grpSpPr>
        <p:sp>
          <p:nvSpPr>
            <p:cNvPr id="9" name="Rectangle 9"/>
            <p:cNvSpPr/>
            <p:nvPr/>
          </p:nvSpPr>
          <p:spPr>
            <a:xfrm>
              <a:off x="609600" y="1905000"/>
              <a:ext cx="6286500" cy="3543300"/>
            </a:xfrm>
            <a:prstGeom prst="roundRect">
              <a:avLst>
                <a:gd name="adj" fmla="val 3226"/>
              </a:avLst>
            </a:prstGeom>
            <a:solidFill>
              <a:schemeClr val="accent5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2057400"/>
              <a:ext cx="5981700" cy="3362325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603504" y="5528310"/>
              <a:ext cx="5181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「このマクロの詳細」を開いたところ。指摘の行も同じ形で開きます。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193661" y="2017871"/>
            <a:ext cx="3627120" cy="1675257"/>
            <a:chOff x="7193661" y="2017871"/>
            <a:chExt cx="3627120" cy="1675257"/>
          </a:xfrm>
        </p:grpSpPr>
        <p:sp>
          <p:nvSpPr>
            <p:cNvPr id="13" name="TextBox 13"/>
            <p:cNvSpPr txBox="1"/>
            <p:nvPr/>
          </p:nvSpPr>
          <p:spPr>
            <a:xfrm>
              <a:off x="7193661" y="2017871"/>
              <a:ext cx="18209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分類（問題の種類）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94423" y="237696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C25560"/>
                  </a:solidFill>
                  <a:latin typeface="+mn-lt"/>
                  <a:ea typeface="+mn-ea"/>
                  <a:cs typeface="+mn-cs"/>
                </a:rPr>
                <a:t>阻害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94423" y="2643664"/>
              <a:ext cx="555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不具合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94423" y="291036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条件付き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94423" y="317706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94423" y="344376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補助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23123" y="23769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対象環境では動かない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23123" y="264366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確定的な不具合・データ損失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23123" y="291036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条件が揃うと起きる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23123" y="317706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人に聞かないと分からない前提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23123" y="344376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補助情報（既定で畳まれている）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193661" y="4075271"/>
            <a:ext cx="3987317" cy="1840135"/>
            <a:chOff x="7193661" y="4075271"/>
            <a:chExt cx="3987317" cy="1840135"/>
          </a:xfrm>
        </p:grpSpPr>
        <p:sp>
          <p:nvSpPr>
            <p:cNvPr id="25" name="TextBox 25"/>
            <p:cNvSpPr txBox="1"/>
            <p:nvPr/>
          </p:nvSpPr>
          <p:spPr>
            <a:xfrm>
              <a:off x="7193661" y="4075271"/>
              <a:ext cx="28245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確度（読み取りの確からしさ）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94423" y="44343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確認済み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94423" y="47010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可能性高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94423" y="496776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未確認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23123" y="443436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コードを読んで確かめた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23123" y="470106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そうである可能性が高い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23123" y="49677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確かめていない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194804" y="5223510"/>
              <a:ext cx="39861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指摘の行を開くと 成立条件 / 影響 / 該当箇所 / 根拠 /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94804" y="5452110"/>
              <a:ext cx="39377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参照した環境制約 が出ます。環境の前提が実測でない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94804" y="568071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指摘には、その旨が添えられます。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36" name="TextBox 36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P12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587609" y="63255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通しの作業事例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4360" y="495300"/>
            <a:ext cx="10988040" cy="1228725"/>
            <a:chOff x="594360" y="495300"/>
            <a:chExt cx="10988040" cy="1228725"/>
          </a:xfrm>
        </p:grpSpPr>
        <p:sp>
          <p:nvSpPr>
            <p:cNvPr id="3" name="Rectangle 3"/>
            <p:cNvSpPr/>
            <p:nvPr/>
          </p:nvSpPr>
          <p:spPr>
            <a:xfrm>
              <a:off x="609600" y="495300"/>
              <a:ext cx="142875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6285" y="564356"/>
              <a:ext cx="1112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手順 3 ・ 画面 3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4360" y="895350"/>
              <a:ext cx="469506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次にすることを選びます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1980" y="1400175"/>
              <a:ext cx="81227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ひな形は複数選べます。選んだ順ではなく、並んでいる順で 1 通の依頼にまとまります。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714500"/>
              <a:ext cx="10972800" cy="9525"/>
            </a:xfrm>
            <a:prstGeom prst="rect">
              <a:avLst/>
            </a:prstGeom>
            <a:solidFill>
              <a:srgbClr val="CFD7DE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3123" y="1905000"/>
            <a:ext cx="5340477" cy="3597878"/>
            <a:chOff x="603123" y="1905000"/>
            <a:chExt cx="5340477" cy="3597878"/>
          </a:xfrm>
        </p:grpSpPr>
        <p:sp>
          <p:nvSpPr>
            <p:cNvPr id="9" name="Rectangle 9"/>
            <p:cNvSpPr/>
            <p:nvPr/>
          </p:nvSpPr>
          <p:spPr>
            <a:xfrm>
              <a:off x="609600" y="1905000"/>
              <a:ext cx="5334000" cy="3200400"/>
            </a:xfrm>
            <a:prstGeom prst="roundRect">
              <a:avLst>
                <a:gd name="adj" fmla="val 3571"/>
              </a:avLst>
            </a:prstGeom>
            <a:solidFill>
              <a:schemeClr val="accent5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2057400"/>
              <a:ext cx="5029200" cy="2828925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603123" y="5253514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画面に着いた時点で、推奨のひな形は既に選ばれています。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241923" y="1905000"/>
            <a:ext cx="5340477" cy="3597878"/>
            <a:chOff x="6241923" y="1905000"/>
            <a:chExt cx="5340477" cy="3597878"/>
          </a:xfrm>
        </p:grpSpPr>
        <p:sp>
          <p:nvSpPr>
            <p:cNvPr id="13" name="Rectangle 13"/>
            <p:cNvSpPr/>
            <p:nvPr/>
          </p:nvSpPr>
          <p:spPr>
            <a:xfrm>
              <a:off x="6248400" y="1905000"/>
              <a:ext cx="5334000" cy="3200400"/>
            </a:xfrm>
            <a:prstGeom prst="roundRect">
              <a:avLst>
                <a:gd name="adj" fmla="val 3571"/>
              </a:avLst>
            </a:prstGeom>
            <a:solidFill>
              <a:schemeClr val="accent5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0" y="2057400"/>
              <a:ext cx="5029200" cy="2828925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6241923" y="5253514"/>
              <a:ext cx="42949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2 枚目を足したところ。右肩に両方の名前が並びます。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" y="5676900"/>
            <a:ext cx="10972800" cy="457200"/>
            <a:chOff x="609600" y="5676900"/>
            <a:chExt cx="10972800" cy="457200"/>
          </a:xfrm>
        </p:grpSpPr>
        <p:sp>
          <p:nvSpPr>
            <p:cNvPr id="17" name="Rectangle 17"/>
            <p:cNvSpPr/>
            <p:nvPr/>
          </p:nvSpPr>
          <p:spPr>
            <a:xfrm>
              <a:off x="609600" y="5676900"/>
              <a:ext cx="10972800" cy="457200"/>
            </a:xfrm>
            <a:prstGeom prst="roundRect">
              <a:avLst>
                <a:gd name="adj" fmla="val 208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9442" y="5816918"/>
              <a:ext cx="10663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★ 推奨 は、そのひな形が挙げている環境の前提を、受理した診断が名指ししているときだけ出ます。根拠のない推奨は出ません。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20" name="TextBox 20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P13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587609" y="63255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通しの作業事例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4360" y="495300"/>
            <a:ext cx="10988040" cy="1228725"/>
            <a:chOff x="594360" y="495300"/>
            <a:chExt cx="10988040" cy="1228725"/>
          </a:xfrm>
        </p:grpSpPr>
        <p:sp>
          <p:nvSpPr>
            <p:cNvPr id="3" name="Rectangle 3"/>
            <p:cNvSpPr/>
            <p:nvPr/>
          </p:nvSpPr>
          <p:spPr>
            <a:xfrm>
              <a:off x="609600" y="495300"/>
              <a:ext cx="186690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6285" y="564356"/>
              <a:ext cx="14588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手順 3 ・ 画面 4 上段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4360" y="895350"/>
              <a:ext cx="554316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置き換える内容を確認します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1980" y="1400175"/>
              <a:ext cx="76885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何を候補として拾うかはひな形が決めます。新しい値を決めるのは、いつも人です。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714500"/>
              <a:ext cx="10972800" cy="9525"/>
            </a:xfrm>
            <a:prstGeom prst="rect">
              <a:avLst/>
            </a:prstGeom>
            <a:solidFill>
              <a:srgbClr val="CFD7DE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3123" y="1905000"/>
            <a:ext cx="5340477" cy="3559778"/>
            <a:chOff x="603123" y="1905000"/>
            <a:chExt cx="5340477" cy="3559778"/>
          </a:xfrm>
        </p:grpSpPr>
        <p:sp>
          <p:nvSpPr>
            <p:cNvPr id="9" name="Rectangle 9"/>
            <p:cNvSpPr/>
            <p:nvPr/>
          </p:nvSpPr>
          <p:spPr>
            <a:xfrm>
              <a:off x="609600" y="1905000"/>
              <a:ext cx="5334000" cy="3200400"/>
            </a:xfrm>
            <a:prstGeom prst="roundRect">
              <a:avLst>
                <a:gd name="adj" fmla="val 3571"/>
              </a:avLst>
            </a:prstGeom>
            <a:solidFill>
              <a:schemeClr val="accent5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2057400"/>
              <a:ext cx="5029200" cy="2828925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603123" y="5215414"/>
              <a:ext cx="39244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6 種類・6 か所の候補。件数と呼び方が並びます。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241923" y="1905000"/>
            <a:ext cx="5340477" cy="3559778"/>
            <a:chOff x="6241923" y="1905000"/>
            <a:chExt cx="5340477" cy="3559778"/>
          </a:xfrm>
        </p:grpSpPr>
        <p:sp>
          <p:nvSpPr>
            <p:cNvPr id="13" name="Rectangle 13"/>
            <p:cNvSpPr/>
            <p:nvPr/>
          </p:nvSpPr>
          <p:spPr>
            <a:xfrm>
              <a:off x="6248400" y="1905000"/>
              <a:ext cx="5334000" cy="3200400"/>
            </a:xfrm>
            <a:prstGeom prst="roundRect">
              <a:avLst>
                <a:gd name="adj" fmla="val 3571"/>
              </a:avLst>
            </a:prstGeom>
            <a:solidFill>
              <a:schemeClr val="accent5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0" y="2057400"/>
              <a:ext cx="5029200" cy="2828925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6241923" y="5215414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値を入れたところ。場所を指す候補には［選ぶ］が出ます。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5505450"/>
            <a:ext cx="10972800" cy="647700"/>
            <a:chOff x="609600" y="5505450"/>
            <a:chExt cx="10972800" cy="647700"/>
          </a:xfrm>
        </p:grpSpPr>
        <p:sp>
          <p:nvSpPr>
            <p:cNvPr id="17" name="Rectangle 17"/>
            <p:cNvSpPr/>
            <p:nvPr/>
          </p:nvSpPr>
          <p:spPr>
            <a:xfrm>
              <a:off x="609600" y="5505450"/>
              <a:ext cx="10972800" cy="647700"/>
            </a:xfrm>
            <a:prstGeom prst="roundRect">
              <a:avLst>
                <a:gd name="adj" fmla="val 14706"/>
              </a:avLst>
            </a:prstGeom>
            <a:solidFill>
              <a:schemeClr val="lt1"/>
            </a:solidFill>
            <a:ln w="9525">
              <a:solidFill>
                <a:srgbClr val="CFD7D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09600" y="5505450"/>
              <a:ext cx="47625" cy="647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69823" y="5653564"/>
              <a:ext cx="65340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CreateObject("Scripting.FileSystemObject") の中の文字列は候補に出ません。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69823" y="5901214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ひな形が「この文脈では拾わない」と書いているためです。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22" name="TextBox 22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P14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587609" y="63255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通しの作業事例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4360" y="495300"/>
            <a:ext cx="10988040" cy="1228725"/>
            <a:chOff x="594360" y="495300"/>
            <a:chExt cx="10988040" cy="1228725"/>
          </a:xfrm>
        </p:grpSpPr>
        <p:sp>
          <p:nvSpPr>
            <p:cNvPr id="3" name="Rectangle 3"/>
            <p:cNvSpPr/>
            <p:nvPr/>
          </p:nvSpPr>
          <p:spPr>
            <a:xfrm>
              <a:off x="609600" y="495300"/>
              <a:ext cx="186690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6285" y="564356"/>
              <a:ext cx="14588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手順 3 ・ 画面 4 下段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4360" y="895350"/>
              <a:ext cx="668411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続けて、AIへ頼む内容を決めます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1980" y="1400175"/>
              <a:ext cx="81227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画面は増えません。同じ画面 4 が、置き換えのあとに改修する指摘の確認へ変わります。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714500"/>
              <a:ext cx="10972800" cy="9525"/>
            </a:xfrm>
            <a:prstGeom prst="rect">
              <a:avLst/>
            </a:prstGeom>
            <a:solidFill>
              <a:srgbClr val="CFD7DE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3504" y="1905000"/>
            <a:ext cx="6673596" cy="4296156"/>
            <a:chOff x="603504" y="1905000"/>
            <a:chExt cx="6673596" cy="4296156"/>
          </a:xfrm>
        </p:grpSpPr>
        <p:sp>
          <p:nvSpPr>
            <p:cNvPr id="9" name="Rectangle 9"/>
            <p:cNvSpPr/>
            <p:nvPr/>
          </p:nvSpPr>
          <p:spPr>
            <a:xfrm>
              <a:off x="609600" y="1905000"/>
              <a:ext cx="6667500" cy="4000500"/>
            </a:xfrm>
            <a:prstGeom prst="roundRect">
              <a:avLst>
                <a:gd name="adj" fmla="val 2857"/>
              </a:avLst>
            </a:prstGeom>
            <a:solidFill>
              <a:schemeClr val="accent5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2057400"/>
              <a:ext cx="6362700" cy="358140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603504" y="5966460"/>
              <a:ext cx="28957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置き換えが済んだあとの、同じ画面 4。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574280" y="2009775"/>
            <a:ext cx="4008120" cy="2066925"/>
            <a:chOff x="7574280" y="2009775"/>
            <a:chExt cx="4008120" cy="2066925"/>
          </a:xfrm>
        </p:grpSpPr>
        <p:sp>
          <p:nvSpPr>
            <p:cNvPr id="13" name="TextBox 13"/>
            <p:cNvSpPr txBox="1"/>
            <p:nvPr/>
          </p:nvSpPr>
          <p:spPr>
            <a:xfrm>
              <a:off x="7574280" y="2009775"/>
              <a:ext cx="2135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この画面で起きること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581900" y="2324100"/>
              <a:ext cx="4000500" cy="1752600"/>
            </a:xfrm>
            <a:prstGeom prst="roundRect">
              <a:avLst>
                <a:gd name="adj" fmla="val 543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804023" y="2510314"/>
              <a:ext cx="27872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1.［次へ］で置き換えが実行される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04023" y="2796064"/>
              <a:ext cx="30542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2.「3種類の文字列を置き換えました。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04023" y="3043714"/>
              <a:ext cx="25345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続けて、AIへ依頼する内容を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04023" y="32913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決めます。」と出る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04023" y="3577114"/>
              <a:ext cx="28388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3. 同じ画面が改修する指摘の確認に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04023" y="38247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変わる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581900" y="4343400"/>
            <a:ext cx="4000500" cy="1562100"/>
            <a:chOff x="7581900" y="4343400"/>
            <a:chExt cx="4000500" cy="1562100"/>
          </a:xfrm>
        </p:grpSpPr>
        <p:sp>
          <p:nvSpPr>
            <p:cNvPr id="22" name="Rectangle 22"/>
            <p:cNvSpPr/>
            <p:nvPr/>
          </p:nvSpPr>
          <p:spPr>
            <a:xfrm>
              <a:off x="7581900" y="4343400"/>
              <a:ext cx="4000500" cy="1562100"/>
            </a:xfrm>
            <a:prstGeom prst="roundRect">
              <a:avLst>
                <a:gd name="adj" fmla="val 6098"/>
              </a:avLst>
            </a:pr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803261" y="4532471"/>
              <a:ext cx="26238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チェックは既に入っています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04023" y="487251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対象環境が阻害する指摘は、最初から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04023" y="512016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チェックが入っています。ここで確かめる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04023" y="536781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のはチェックの状態で、希望を書き直す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04023" y="561546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欄はありません。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29" name="TextBox 29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P15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587609" y="63255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通しの作業事例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4360" y="495300"/>
            <a:ext cx="10988040" cy="1228725"/>
            <a:chOff x="594360" y="495300"/>
            <a:chExt cx="10988040" cy="1228725"/>
          </a:xfrm>
        </p:grpSpPr>
        <p:sp>
          <p:nvSpPr>
            <p:cNvPr id="3" name="Rectangle 3"/>
            <p:cNvSpPr/>
            <p:nvPr/>
          </p:nvSpPr>
          <p:spPr>
            <a:xfrm>
              <a:off x="609600" y="495300"/>
              <a:ext cx="142875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6285" y="564356"/>
              <a:ext cx="1112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手順 3 ・ 画面 5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4360" y="895350"/>
              <a:ext cx="489188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AIに改修してもらいます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1980" y="1400175"/>
              <a:ext cx="8092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添付するコードは置き換え済みで、依頼文には「元の値へ戻さない」と書かれています。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714500"/>
              <a:ext cx="10972800" cy="9525"/>
            </a:xfrm>
            <a:prstGeom prst="rect">
              <a:avLst/>
            </a:prstGeom>
            <a:solidFill>
              <a:srgbClr val="CFD7DE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3123" y="1905000"/>
            <a:ext cx="5340477" cy="3559778"/>
            <a:chOff x="603123" y="1905000"/>
            <a:chExt cx="5340477" cy="3559778"/>
          </a:xfrm>
        </p:grpSpPr>
        <p:sp>
          <p:nvSpPr>
            <p:cNvPr id="9" name="Rectangle 9"/>
            <p:cNvSpPr/>
            <p:nvPr/>
          </p:nvSpPr>
          <p:spPr>
            <a:xfrm>
              <a:off x="609600" y="1905000"/>
              <a:ext cx="5334000" cy="3200400"/>
            </a:xfrm>
            <a:prstGeom prst="roundRect">
              <a:avLst>
                <a:gd name="adj" fmla="val 3571"/>
              </a:avLst>
            </a:prstGeom>
            <a:solidFill>
              <a:schemeClr val="accent5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2057400"/>
              <a:ext cx="5029200" cy="2828925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603123" y="5215414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診断のときと同じ形です。渡して、返答を戻します。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241923" y="1905000"/>
            <a:ext cx="5340477" cy="3559778"/>
            <a:chOff x="6241923" y="1905000"/>
            <a:chExt cx="5340477" cy="3559778"/>
          </a:xfrm>
        </p:grpSpPr>
        <p:sp>
          <p:nvSpPr>
            <p:cNvPr id="13" name="Rectangle 13"/>
            <p:cNvSpPr/>
            <p:nvPr/>
          </p:nvSpPr>
          <p:spPr>
            <a:xfrm>
              <a:off x="6248400" y="1905000"/>
              <a:ext cx="5334000" cy="3200400"/>
            </a:xfrm>
            <a:prstGeom prst="roundRect">
              <a:avLst>
                <a:gd name="adj" fmla="val 3571"/>
              </a:avLst>
            </a:prstGeom>
            <a:solidFill>
              <a:schemeClr val="accent5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0" y="2057400"/>
              <a:ext cx="5029200" cy="2828925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6241923" y="5215414"/>
              <a:ext cx="45878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取り込めたところ。「2個のモジュールを取り込み済み」。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5505450"/>
            <a:ext cx="5334000" cy="628650"/>
            <a:chOff x="609600" y="5505450"/>
            <a:chExt cx="5334000" cy="628650"/>
          </a:xfrm>
        </p:grpSpPr>
        <p:sp>
          <p:nvSpPr>
            <p:cNvPr id="17" name="Rectangle 17"/>
            <p:cNvSpPr/>
            <p:nvPr/>
          </p:nvSpPr>
          <p:spPr>
            <a:xfrm>
              <a:off x="609600" y="5505450"/>
              <a:ext cx="5334000" cy="628650"/>
            </a:xfrm>
            <a:prstGeom prst="roundRect">
              <a:avLst>
                <a:gd name="adj" fmla="val 1515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2485" y="5650706"/>
              <a:ext cx="36450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添付する source-code-for-ai.md は置き換え済み。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2485" y="5879306"/>
              <a:ext cx="3961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source-code.md は読み取った時点のままで動きません。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248400" y="5505450"/>
            <a:ext cx="5511419" cy="628650"/>
            <a:chOff x="6248400" y="5505450"/>
            <a:chExt cx="5511419" cy="628650"/>
          </a:xfrm>
        </p:grpSpPr>
        <p:sp>
          <p:nvSpPr>
            <p:cNvPr id="21" name="Rectangle 21"/>
            <p:cNvSpPr/>
            <p:nvPr/>
          </p:nvSpPr>
          <p:spPr>
            <a:xfrm>
              <a:off x="6248400" y="5505450"/>
              <a:ext cx="5334000" cy="628650"/>
            </a:xfrm>
            <a:prstGeom prst="roundRect">
              <a:avLst>
                <a:gd name="adj" fmla="val 15152"/>
              </a:avLst>
            </a:prstGeom>
            <a:solidFill>
              <a:schemeClr val="lt1"/>
            </a:solidFill>
            <a:ln w="9525">
              <a:solidFill>
                <a:srgbClr val="CFD7DE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71285" y="5650706"/>
              <a:ext cx="48145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が直せないと判断したときは理由が返り、ビルドへ進みません。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71285" y="5879306"/>
              <a:ext cx="5288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（改修は不要／この方法では改修できません／依頼の内容を決められません）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25" name="TextBox 25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P16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587609" y="63255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通しの作業事例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4360" y="495300"/>
            <a:ext cx="10988040" cy="1228725"/>
            <a:chOff x="594360" y="495300"/>
            <a:chExt cx="10988040" cy="1228725"/>
          </a:xfrm>
        </p:grpSpPr>
        <p:sp>
          <p:nvSpPr>
            <p:cNvPr id="3" name="Rectangle 3"/>
            <p:cNvSpPr/>
            <p:nvPr/>
          </p:nvSpPr>
          <p:spPr>
            <a:xfrm>
              <a:off x="609600" y="495300"/>
              <a:ext cx="142875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6285" y="564356"/>
              <a:ext cx="1112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手順 3 ・ 画面 6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4360" y="895350"/>
              <a:ext cx="554316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取り込んだ変更を確認します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1980" y="1400175"/>
              <a:ext cx="5669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差分は経路によらず、元のコードから最終形までを見せます。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714500"/>
              <a:ext cx="10972800" cy="9525"/>
            </a:xfrm>
            <a:prstGeom prst="rect">
              <a:avLst/>
            </a:prstGeom>
            <a:solidFill>
              <a:srgbClr val="CFD7DE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3504" y="1905000"/>
            <a:ext cx="6673596" cy="4296156"/>
            <a:chOff x="603504" y="1905000"/>
            <a:chExt cx="6673596" cy="4296156"/>
          </a:xfrm>
        </p:grpSpPr>
        <p:sp>
          <p:nvSpPr>
            <p:cNvPr id="9" name="Rectangle 9"/>
            <p:cNvSpPr/>
            <p:nvPr/>
          </p:nvSpPr>
          <p:spPr>
            <a:xfrm>
              <a:off x="609600" y="1905000"/>
              <a:ext cx="6667500" cy="4000500"/>
            </a:xfrm>
            <a:prstGeom prst="roundRect">
              <a:avLst>
                <a:gd name="adj" fmla="val 2857"/>
              </a:avLst>
            </a:prstGeom>
            <a:solidFill>
              <a:schemeClr val="accent5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2057400"/>
              <a:ext cx="6362700" cy="358140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603504" y="5966460"/>
              <a:ext cx="5020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左にモジュール一覧、右に差分。追加行と削除行は色で分かれます。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581900" y="1905000"/>
            <a:ext cx="4000500" cy="1866900"/>
            <a:chOff x="7581900" y="1905000"/>
            <a:chExt cx="4000500" cy="1866900"/>
          </a:xfrm>
        </p:grpSpPr>
        <p:sp>
          <p:nvSpPr>
            <p:cNvPr id="13" name="Rectangle 13"/>
            <p:cNvSpPr/>
            <p:nvPr/>
          </p:nvSpPr>
          <p:spPr>
            <a:xfrm>
              <a:off x="7581900" y="1905000"/>
              <a:ext cx="4000500" cy="1866900"/>
            </a:xfrm>
            <a:prstGeom prst="roundRect">
              <a:avLst>
                <a:gd name="adj" fmla="val 510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803261" y="2113121"/>
              <a:ext cx="24230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 つの作業が 1 つの差分に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04023" y="2453164"/>
              <a:ext cx="31354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手元で行った置き換えと、AI が返した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04023" y="2700814"/>
              <a:ext cx="2916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改修は、1 つの差分にまとまります。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04023" y="294846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この画面から先は、変更がどちらから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04023" y="319611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来たかを区別しません。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581900" y="4114800"/>
            <a:ext cx="4000500" cy="1866900"/>
            <a:chOff x="7581900" y="4114800"/>
            <a:chExt cx="4000500" cy="1866900"/>
          </a:xfrm>
        </p:grpSpPr>
        <p:sp>
          <p:nvSpPr>
            <p:cNvPr id="20" name="Rectangle 20"/>
            <p:cNvSpPr/>
            <p:nvPr/>
          </p:nvSpPr>
          <p:spPr>
            <a:xfrm>
              <a:off x="7581900" y="4114800"/>
              <a:ext cx="4000500" cy="1866900"/>
            </a:xfrm>
            <a:prstGeom prst="roundRect">
              <a:avLst>
                <a:gd name="adj" fmla="val 5102"/>
              </a:avLst>
            </a:prstGeom>
            <a:solidFill>
              <a:schemeClr val="lt1"/>
            </a:solidFill>
            <a:ln w="9525">
              <a:solidFill>
                <a:srgbClr val="CFD7DE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7581900" y="4114800"/>
              <a:ext cx="47625" cy="1866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41361" y="4322921"/>
              <a:ext cx="28245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想定外の変更や不足があるとき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2123" y="466296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［戻る］で依頼をやり直せます。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2123" y="491061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取り込み直すと、それに基づく下流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2123" y="515826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（差分・出力名）はすべて捨てられ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42123" y="540591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ます。中途半端には残りません。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28" name="TextBox 28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P17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587609" y="63255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通しの作業事例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4360" y="495300"/>
            <a:ext cx="10988040" cy="1228725"/>
            <a:chOff x="594360" y="495300"/>
            <a:chExt cx="10988040" cy="1228725"/>
          </a:xfrm>
        </p:grpSpPr>
        <p:sp>
          <p:nvSpPr>
            <p:cNvPr id="3" name="Rectangle 3"/>
            <p:cNvSpPr/>
            <p:nvPr/>
          </p:nvSpPr>
          <p:spPr>
            <a:xfrm>
              <a:off x="609600" y="495300"/>
              <a:ext cx="142875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6285" y="564356"/>
              <a:ext cx="1112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手順 4 ・ 画面 7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4360" y="895350"/>
              <a:ext cx="723938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作成する改修済みブックを確認します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1980" y="1400175"/>
              <a:ext cx="5265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名前が使えないときは、赤枠と理由が必ず一緒に出ます。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714500"/>
              <a:ext cx="10972800" cy="9525"/>
            </a:xfrm>
            <a:prstGeom prst="rect">
              <a:avLst/>
            </a:prstGeom>
            <a:solidFill>
              <a:srgbClr val="CFD7DE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3123" y="1905000"/>
            <a:ext cx="5340477" cy="3407378"/>
            <a:chOff x="603123" y="1905000"/>
            <a:chExt cx="5340477" cy="3407378"/>
          </a:xfrm>
        </p:grpSpPr>
        <p:sp>
          <p:nvSpPr>
            <p:cNvPr id="9" name="Rectangle 9"/>
            <p:cNvSpPr/>
            <p:nvPr/>
          </p:nvSpPr>
          <p:spPr>
            <a:xfrm>
              <a:off x="609600" y="1905000"/>
              <a:ext cx="5334000" cy="3048000"/>
            </a:xfrm>
            <a:prstGeom prst="roundRect">
              <a:avLst>
                <a:gd name="adj" fmla="val 3750"/>
              </a:avLst>
            </a:prstGeom>
            <a:solidFill>
              <a:schemeClr val="accent5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2057400"/>
              <a:ext cx="5029200" cy="2828925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603123" y="5063014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既定の名前が入っています。拡張子は元のままです。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241923" y="1905000"/>
            <a:ext cx="5340477" cy="3407378"/>
            <a:chOff x="6241923" y="1905000"/>
            <a:chExt cx="5340477" cy="3407378"/>
          </a:xfrm>
        </p:grpSpPr>
        <p:sp>
          <p:nvSpPr>
            <p:cNvPr id="13" name="Rectangle 13"/>
            <p:cNvSpPr/>
            <p:nvPr/>
          </p:nvSpPr>
          <p:spPr>
            <a:xfrm>
              <a:off x="6248400" y="1905000"/>
              <a:ext cx="5334000" cy="3048000"/>
            </a:xfrm>
            <a:prstGeom prst="roundRect">
              <a:avLst>
                <a:gd name="adj" fmla="val 3750"/>
              </a:avLst>
            </a:prstGeom>
            <a:solidFill>
              <a:schemeClr val="accent5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0" y="2057400"/>
              <a:ext cx="5029200" cy="2828925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6241923" y="5063014"/>
              <a:ext cx="44077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Windows が装置の名前として扱う名前を入れたところ。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5448300"/>
            <a:ext cx="10972800" cy="685800"/>
            <a:chOff x="609600" y="5448300"/>
            <a:chExt cx="10972800" cy="685800"/>
          </a:xfrm>
        </p:grpSpPr>
        <p:sp>
          <p:nvSpPr>
            <p:cNvPr id="17" name="Rectangle 17"/>
            <p:cNvSpPr/>
            <p:nvPr/>
          </p:nvSpPr>
          <p:spPr>
            <a:xfrm>
              <a:off x="609600" y="5448300"/>
              <a:ext cx="10972800" cy="685800"/>
            </a:xfrm>
            <a:prstGeom prst="roundRect">
              <a:avLst>
                <a:gd name="adj" fmla="val 13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1723" y="5596414"/>
              <a:ext cx="10985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使えない名前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2104" y="5871210"/>
              <a:ext cx="107399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フォルダの区切りや \ / : * ? " &lt; &gt; | ／ 貼り付けで混ざった制御文字 ／ 120 文字超 ／ CON PRN AUX NUL CLOCK$ COM0〜COM9 LPT0〜LPT9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21" name="TextBox 21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P18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587609" y="63255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通しの作業事例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4360" y="495300"/>
            <a:ext cx="10988040" cy="1228725"/>
            <a:chOff x="594360" y="495300"/>
            <a:chExt cx="10988040" cy="1228725"/>
          </a:xfrm>
        </p:grpSpPr>
        <p:sp>
          <p:nvSpPr>
            <p:cNvPr id="3" name="Rectangle 3"/>
            <p:cNvSpPr/>
            <p:nvPr/>
          </p:nvSpPr>
          <p:spPr>
            <a:xfrm>
              <a:off x="609600" y="495300"/>
              <a:ext cx="179070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6285" y="564356"/>
              <a:ext cx="1345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手順 4 ・ 画面 8・9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4360" y="895350"/>
              <a:ext cx="554316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改修済みブックを作成します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1980" y="1400175"/>
              <a:ext cx="8496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書き戻したあとブックを読み直し、取り込んだコードがそのとおり入っているか照合します。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714500"/>
              <a:ext cx="10972800" cy="9525"/>
            </a:xfrm>
            <a:prstGeom prst="rect">
              <a:avLst/>
            </a:prstGeom>
            <a:solidFill>
              <a:srgbClr val="CFD7DE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3123" y="1905000"/>
            <a:ext cx="5340477" cy="3407378"/>
            <a:chOff x="603123" y="1905000"/>
            <a:chExt cx="5340477" cy="3407378"/>
          </a:xfrm>
        </p:grpSpPr>
        <p:sp>
          <p:nvSpPr>
            <p:cNvPr id="9" name="Rectangle 9"/>
            <p:cNvSpPr/>
            <p:nvPr/>
          </p:nvSpPr>
          <p:spPr>
            <a:xfrm>
              <a:off x="609600" y="1905000"/>
              <a:ext cx="5334000" cy="3048000"/>
            </a:xfrm>
            <a:prstGeom prst="roundRect">
              <a:avLst>
                <a:gd name="adj" fmla="val 3750"/>
              </a:avLst>
            </a:prstGeom>
            <a:solidFill>
              <a:schemeClr val="accent5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2057400"/>
              <a:ext cx="5029200" cy="2828925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603123" y="5063014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ビルド中。ここだけは［戻る］が使えません。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241923" y="1905000"/>
            <a:ext cx="5340477" cy="3407378"/>
            <a:chOff x="6241923" y="1905000"/>
            <a:chExt cx="5340477" cy="3407378"/>
          </a:xfrm>
        </p:grpSpPr>
        <p:sp>
          <p:nvSpPr>
            <p:cNvPr id="13" name="Rectangle 13"/>
            <p:cNvSpPr/>
            <p:nvPr/>
          </p:nvSpPr>
          <p:spPr>
            <a:xfrm>
              <a:off x="6248400" y="1905000"/>
              <a:ext cx="5334000" cy="3048000"/>
            </a:xfrm>
            <a:prstGeom prst="roundRect">
              <a:avLst>
                <a:gd name="adj" fmla="val 3750"/>
              </a:avLst>
            </a:prstGeom>
            <a:solidFill>
              <a:schemeClr val="accent5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0" y="2057400"/>
              <a:ext cx="5029200" cy="2828925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6241923" y="5063014"/>
              <a:ext cx="48377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完了。［出力フォルダをエクスプローラーで開く］が出ます。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5372100"/>
            <a:ext cx="10972800" cy="829056"/>
            <a:chOff x="609600" y="5372100"/>
            <a:chExt cx="10972800" cy="829056"/>
          </a:xfrm>
        </p:grpSpPr>
        <p:sp>
          <p:nvSpPr>
            <p:cNvPr id="17" name="Rectangle 17"/>
            <p:cNvSpPr/>
            <p:nvPr/>
          </p:nvSpPr>
          <p:spPr>
            <a:xfrm>
              <a:off x="609600" y="5372100"/>
              <a:ext cx="10972800" cy="781050"/>
            </a:xfrm>
            <a:prstGeom prst="roundRect">
              <a:avLst>
                <a:gd name="adj" fmla="val 1219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1723" y="5501164"/>
              <a:ext cx="20031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このフォルダに残るもの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2104" y="5756910"/>
              <a:ext cx="56258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改修済みブック ／ 差分の確認レポート ／ result.md ／ run-manifest.json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2104" y="5966460"/>
              <a:ext cx="62639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diagnose-request.md ／ repair-request.md ／ source-code.md ／ diagnosis.md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22" name="TextBox 22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P19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587609" y="63255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通しの作業事例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4360" y="495300"/>
            <a:ext cx="10988040" cy="1228725"/>
            <a:chOff x="594360" y="495300"/>
            <a:chExt cx="10988040" cy="1228725"/>
          </a:xfrm>
        </p:grpSpPr>
        <p:sp>
          <p:nvSpPr>
            <p:cNvPr id="3" name="Rectangle 3"/>
            <p:cNvSpPr/>
            <p:nvPr/>
          </p:nvSpPr>
          <p:spPr>
            <a:xfrm>
              <a:off x="609600" y="495300"/>
              <a:ext cx="167640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6285" y="5643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ここから先は人の作業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4360" y="895350"/>
              <a:ext cx="496229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Excelで動作を確認します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1980" y="1400175"/>
              <a:ext cx="7284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このツールはマクロを実行しません。照合するのは書き込みの正確さだけです。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714500"/>
              <a:ext cx="10972800" cy="9525"/>
            </a:xfrm>
            <a:prstGeom prst="rect">
              <a:avLst/>
            </a:prstGeom>
            <a:solidFill>
              <a:srgbClr val="CFD7DE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3504" y="1905000"/>
            <a:ext cx="5911596" cy="3877056"/>
            <a:chOff x="603504" y="1905000"/>
            <a:chExt cx="5911596" cy="3877056"/>
          </a:xfrm>
        </p:grpSpPr>
        <p:sp>
          <p:nvSpPr>
            <p:cNvPr id="9" name="Rectangle 9"/>
            <p:cNvSpPr/>
            <p:nvPr/>
          </p:nvSpPr>
          <p:spPr>
            <a:xfrm>
              <a:off x="609600" y="1905000"/>
              <a:ext cx="5905500" cy="3543300"/>
            </a:xfrm>
            <a:prstGeom prst="roundRect">
              <a:avLst>
                <a:gd name="adj" fmla="val 3226"/>
              </a:avLst>
            </a:prstGeom>
            <a:solidFill>
              <a:schemeClr val="accent5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2057400"/>
              <a:ext cx="5600700" cy="3152775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603504" y="5547360"/>
              <a:ext cx="4373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完了画面の「このあと人が確かめること」を開いたところ。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812280" y="2009775"/>
            <a:ext cx="4770120" cy="2333625"/>
            <a:chOff x="6812280" y="2009775"/>
            <a:chExt cx="4770120" cy="2333625"/>
          </a:xfrm>
        </p:grpSpPr>
        <p:sp>
          <p:nvSpPr>
            <p:cNvPr id="13" name="TextBox 13"/>
            <p:cNvSpPr txBox="1"/>
            <p:nvPr/>
          </p:nvSpPr>
          <p:spPr>
            <a:xfrm>
              <a:off x="6812280" y="20097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確認の手順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819900" y="2324100"/>
              <a:ext cx="4762500" cy="2019300"/>
            </a:xfrm>
            <a:prstGeom prst="roundRect">
              <a:avLst>
                <a:gd name="adj" fmla="val 471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041642" y="2540318"/>
              <a:ext cx="29942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 出力フォルダの改修済みブックを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41642" y="2787968"/>
              <a:ext cx="1263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Excel で開く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41642" y="3111818"/>
              <a:ext cx="19037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2. マクロを有効にする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41642" y="3435668"/>
              <a:ext cx="31759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3. いつも使う入口のマクロを実行する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41642" y="3759518"/>
              <a:ext cx="29942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4. 結果がこれまでと同じか確かめる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819900" y="4476750"/>
            <a:ext cx="4762500" cy="1695450"/>
            <a:chOff x="6819900" y="4476750"/>
            <a:chExt cx="4762500" cy="1695450"/>
          </a:xfrm>
        </p:grpSpPr>
        <p:sp>
          <p:nvSpPr>
            <p:cNvPr id="21" name="Rectangle 21"/>
            <p:cNvSpPr/>
            <p:nvPr/>
          </p:nvSpPr>
          <p:spPr>
            <a:xfrm>
              <a:off x="6819900" y="4476750"/>
              <a:ext cx="4762500" cy="1695450"/>
            </a:xfrm>
            <a:prstGeom prst="roundRect">
              <a:avLst>
                <a:gd name="adj" fmla="val 5618"/>
              </a:avLst>
            </a:prstGeom>
            <a:solidFill>
              <a:schemeClr val="lt1"/>
            </a:solidFill>
            <a:ln w="9525">
              <a:solidFill>
                <a:srgbClr val="CFD7DE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819900" y="4476750"/>
              <a:ext cx="47625" cy="16954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079361" y="4665821"/>
              <a:ext cx="14195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署名は外れます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80504" y="501396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元のブックにコード署名があった場合、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80504" y="524256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改修済みブックには付いていません。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80504" y="547116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コードを書き換えたため、元の署名は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80504" y="569976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内容と一致しなくなります。配布する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80504" y="59283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前に署名し直してください。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30" name="TextBox 30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P20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80854" y="63255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確かめること・別の進め方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4360" y="495300"/>
            <a:ext cx="10988040" cy="1228725"/>
            <a:chOff x="594360" y="495300"/>
            <a:chExt cx="10988040" cy="1228725"/>
          </a:xfrm>
        </p:grpSpPr>
        <p:sp>
          <p:nvSpPr>
            <p:cNvPr id="3" name="Rectangle 3"/>
            <p:cNvSpPr/>
            <p:nvPr/>
          </p:nvSpPr>
          <p:spPr>
            <a:xfrm>
              <a:off x="609600" y="495300"/>
              <a:ext cx="133350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6285" y="5643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別の進め方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4360" y="895350"/>
              <a:ext cx="596722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診断を飛ばす／戻ってやり直す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1980" y="1400175"/>
              <a:ext cx="6477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完了画面から戻っても、作成済みのファイルはそのまま残っています。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714500"/>
              <a:ext cx="10972800" cy="9525"/>
            </a:xfrm>
            <a:prstGeom prst="rect">
              <a:avLst/>
            </a:prstGeom>
            <a:solidFill>
              <a:srgbClr val="CFD7DE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3123" y="1905000"/>
            <a:ext cx="5340477" cy="3597878"/>
            <a:chOff x="603123" y="1905000"/>
            <a:chExt cx="5340477" cy="3597878"/>
          </a:xfrm>
        </p:grpSpPr>
        <p:sp>
          <p:nvSpPr>
            <p:cNvPr id="9" name="Rectangle 9"/>
            <p:cNvSpPr/>
            <p:nvPr/>
          </p:nvSpPr>
          <p:spPr>
            <a:xfrm>
              <a:off x="609600" y="1905000"/>
              <a:ext cx="5334000" cy="3200400"/>
            </a:xfrm>
            <a:prstGeom prst="roundRect">
              <a:avLst>
                <a:gd name="adj" fmla="val 3571"/>
              </a:avLst>
            </a:prstGeom>
            <a:solidFill>
              <a:schemeClr val="accent5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2057400"/>
              <a:ext cx="5029200" cy="2828925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603123" y="5253514"/>
              <a:ext cx="51823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「診断を飛ばして、直したいことを自分で書く」を選んだところ。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241923" y="1905000"/>
            <a:ext cx="5340477" cy="3597878"/>
            <a:chOff x="6241923" y="1905000"/>
            <a:chExt cx="5340477" cy="3597878"/>
          </a:xfrm>
        </p:grpSpPr>
        <p:sp>
          <p:nvSpPr>
            <p:cNvPr id="13" name="Rectangle 13"/>
            <p:cNvSpPr/>
            <p:nvPr/>
          </p:nvSpPr>
          <p:spPr>
            <a:xfrm>
              <a:off x="6248400" y="1905000"/>
              <a:ext cx="5334000" cy="3200400"/>
            </a:xfrm>
            <a:prstGeom prst="roundRect">
              <a:avLst>
                <a:gd name="adj" fmla="val 3571"/>
              </a:avLst>
            </a:prstGeom>
            <a:solidFill>
              <a:schemeClr val="accent5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0" y="2057400"/>
              <a:ext cx="5029200" cy="2828925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6241923" y="5253514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完了画面から［戻る］で戻った先。上部に案内が出ます。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" y="5676900"/>
            <a:ext cx="5334000" cy="457200"/>
            <a:chOff x="609600" y="5676900"/>
            <a:chExt cx="5334000" cy="457200"/>
          </a:xfrm>
        </p:grpSpPr>
        <p:sp>
          <p:nvSpPr>
            <p:cNvPr id="17" name="Rectangle 17"/>
            <p:cNvSpPr/>
            <p:nvPr/>
          </p:nvSpPr>
          <p:spPr>
            <a:xfrm>
              <a:off x="609600" y="5676900"/>
              <a:ext cx="5334000" cy="457200"/>
            </a:xfrm>
            <a:prstGeom prst="roundRect">
              <a:avLst>
                <a:gd name="adj" fmla="val 208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2104" y="5833110"/>
              <a:ext cx="4696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診断結果のページを飛ばして、次にすることの選択へ進みます。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248400" y="5676900"/>
            <a:ext cx="5334000" cy="457200"/>
            <a:chOff x="6248400" y="5676900"/>
            <a:chExt cx="5334000" cy="457200"/>
          </a:xfrm>
        </p:grpSpPr>
        <p:sp>
          <p:nvSpPr>
            <p:cNvPr id="20" name="Rectangle 20"/>
            <p:cNvSpPr/>
            <p:nvPr/>
          </p:nvSpPr>
          <p:spPr>
            <a:xfrm>
              <a:off x="6248400" y="5676900"/>
              <a:ext cx="5334000" cy="457200"/>
            </a:xfrm>
            <a:prstGeom prst="roundRect">
              <a:avLst>
                <a:gd name="adj" fmla="val 208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70904" y="5833110"/>
              <a:ext cx="4373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このまま進めると、同じフォルダーへもう一度作成します。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23" name="TextBox 23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P21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880854" y="63255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確かめること・別の進め方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4360" y="704850"/>
            <a:ext cx="10988040" cy="904875"/>
            <a:chOff x="594360" y="704850"/>
            <a:chExt cx="10988040" cy="904875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704850"/>
              <a:ext cx="511911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動作要件と、仕組みの要点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1218" y="1231582"/>
              <a:ext cx="83219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MacroStudio 自体の処理は手元で完結します。チャット AI は外部サービスです。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609600" y="1600200"/>
              <a:ext cx="10972800" cy="9525"/>
            </a:xfrm>
            <a:prstGeom prst="rect">
              <a:avLst/>
            </a:prstGeom>
            <a:solidFill>
              <a:srgbClr val="CFD7DE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01218" y="1917382"/>
            <a:ext cx="3513582" cy="2921318"/>
            <a:chOff x="601218" y="1917382"/>
            <a:chExt cx="3513582" cy="2921318"/>
          </a:xfrm>
        </p:grpSpPr>
        <p:sp>
          <p:nvSpPr>
            <p:cNvPr id="7" name="TextBox 7"/>
            <p:cNvSpPr txBox="1"/>
            <p:nvPr/>
          </p:nvSpPr>
          <p:spPr>
            <a:xfrm>
              <a:off x="601218" y="19173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動作要件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2247900"/>
              <a:ext cx="3505200" cy="2590800"/>
            </a:xfrm>
            <a:prstGeom prst="roundRect">
              <a:avLst>
                <a:gd name="adj" fmla="val 367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1342" y="2483168"/>
              <a:ext cx="7465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Windows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1342" y="2826068"/>
              <a:ext cx="16048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WebView2 Runtime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1342" y="3168968"/>
              <a:ext cx="17597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Excel（動作確認用）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1342" y="3511868"/>
              <a:ext cx="1596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dotnet SDK は不要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1342" y="38547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フォルダをコピーするだけで動く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1342" y="41976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外部依存はありません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335018" y="1917382"/>
            <a:ext cx="3513582" cy="2921318"/>
            <a:chOff x="4335018" y="1917382"/>
            <a:chExt cx="3513582" cy="2921318"/>
          </a:xfrm>
        </p:grpSpPr>
        <p:sp>
          <p:nvSpPr>
            <p:cNvPr id="16" name="TextBox 16"/>
            <p:cNvSpPr txBox="1"/>
            <p:nvPr/>
          </p:nvSpPr>
          <p:spPr>
            <a:xfrm>
              <a:off x="4335018" y="1917382"/>
              <a:ext cx="21158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手元で完結すること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343400" y="2247900"/>
              <a:ext cx="3505200" cy="2590800"/>
            </a:xfrm>
            <a:prstGeom prst="roundRect">
              <a:avLst>
                <a:gd name="adj" fmla="val 367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565142" y="24831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ブックの読み取り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65142" y="28260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依頼文と添付ファイルの作成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65142" y="31689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返答の検証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65142" y="35118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固定パスの検出と置き換え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65142" y="38547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差分の作成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65142" y="41976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書き戻しと読み直し検証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068818" y="1917382"/>
            <a:ext cx="3513582" cy="3073718"/>
            <a:chOff x="8068818" y="1917382"/>
            <a:chExt cx="3513582" cy="3073718"/>
          </a:xfrm>
        </p:grpSpPr>
        <p:sp>
          <p:nvSpPr>
            <p:cNvPr id="25" name="TextBox 25"/>
            <p:cNvSpPr txBox="1"/>
            <p:nvPr/>
          </p:nvSpPr>
          <p:spPr>
            <a:xfrm>
              <a:off x="8068818" y="191738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仕組みの要点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077200" y="2247900"/>
              <a:ext cx="3505200" cy="2743200"/>
            </a:xfrm>
            <a:prstGeom prst="roundRect">
              <a:avLst>
                <a:gd name="adj" fmla="val 3472"/>
              </a:avLst>
            </a:pr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99323" y="2434114"/>
              <a:ext cx="19155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依頼と返答は依頼 ID 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99323" y="267223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対応付けます。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99323" y="299608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別の依頼への返答は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99323" y="323421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受理しません。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99323" y="3558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前提が変わった結果は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99323" y="379618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捨てます。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99323" y="412003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出力は常に別名の新しい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99323" y="435816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ブックで、実行フォルダの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99323" y="459628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中だけに作ります。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9600" y="5105400"/>
            <a:ext cx="10972800" cy="952500"/>
            <a:chOff x="609600" y="5105400"/>
            <a:chExt cx="10972800" cy="952500"/>
          </a:xfrm>
        </p:grpSpPr>
        <p:sp>
          <p:nvSpPr>
            <p:cNvPr id="37" name="Rectangle 37"/>
            <p:cNvSpPr/>
            <p:nvPr/>
          </p:nvSpPr>
          <p:spPr>
            <a:xfrm>
              <a:off x="609600" y="5105400"/>
              <a:ext cx="10972800" cy="952500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9525">
              <a:solidFill>
                <a:srgbClr val="CFD7DE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09600" y="5105400"/>
              <a:ext cx="47625" cy="952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68680" y="5305425"/>
              <a:ext cx="40437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何をするかは、マクロを見てから決める。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9442" y="5645468"/>
              <a:ext cx="8918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読み込んで、診断して、何をするか決めて、ブックを作る。元のブックは、そのあいだ一度も変わりません。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42" name="TextBox 42"/>
            <p:cNvSpPr txBox="1"/>
            <p:nvPr/>
          </p:nvSpPr>
          <p:spPr>
            <a:xfrm>
              <a:off x="604266" y="63255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P22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932140" y="6325552"/>
              <a:ext cx="16555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5D6B7A"/>
                  </a:solidFill>
                  <a:latin typeface="+mn-lt"/>
                  <a:ea typeface="+mn-ea"/>
                  <a:cs typeface="+mn-cs"/>
                </a:rPr>
                <a:t>MacroStudio beta 2.0.0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anual-macrostudio-beta2">
  <a:themeElements>
    <a:clrScheme name="manual-macrostudio-beta2">
      <a:dk1>
        <a:srgbClr val="1F2A37"/>
      </a:dk1>
      <a:lt1>
        <a:srgbClr val="FFFFFF"/>
      </a:lt1>
      <a:dk2>
        <a:srgbClr val="1F2A37"/>
      </a:dk2>
      <a:lt2>
        <a:srgbClr val="F2F6FB"/>
      </a:lt2>
      <a:accent1>
        <a:srgbClr val="24507F"/>
      </a:accent1>
      <a:accent2>
        <a:srgbClr val="C05B21"/>
      </a:accent2>
      <a:accent3>
        <a:srgbClr val="2B5C96"/>
      </a:accent3>
      <a:accent4>
        <a:srgbClr val="24507F"/>
      </a:accent4>
      <a:accent5>
        <a:srgbClr val="FAFBFC"/>
      </a:accent5>
      <a:accent6>
        <a:srgbClr val="E2E7EC"/>
      </a:accent6>
      <a:hlink>
        <a:srgbClr val="C05B21"/>
      </a:hlink>
      <a:folHlink>
        <a:srgbClr val="2B5C96"/>
      </a:folHlink>
    </a:clrScheme>
    <a:fontScheme name="manual-macrostudio-beta2">
      <a:majorFont>
        <a:latin typeface="Segoe UI"/>
        <a:ea typeface="Yu Gothic UI"/>
        <a:cs typeface="Segoe UI"/>
        <a:font script="Jpan" typeface="Yu Gothic UI"/>
        <a:font script="Hang" typeface="Yu Gothic UI"/>
        <a:font script="Hans" typeface="Yu Gothic UI"/>
        <a:font script="Hant" typeface="Yu Gothic U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Yu Gothic UI"/>
        <a:cs typeface="Segoe UI"/>
        <a:font script="Jpan" typeface="Yu Gothic UI"/>
        <a:font script="Hang" typeface="Yu Gothic UI"/>
        <a:font script="Hans" typeface="Yu Gothic UI"/>
        <a:font script="Hant" typeface="Yu Gothic U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nual-macrostudio-beta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2026-08-03T03:33:55Z</dcterms:created>
  <dcterms:modified xsi:type="dcterms:W3CDTF">2026-08-03T03:33:55Z</dcterms:modified>
  <cp:category/>
  <cp:contentStatus/>
</cp:coreProperties>
</file>